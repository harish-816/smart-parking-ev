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A2E42"/>
          </a:solidFill>
          <a:ln w="12700">
            <a:solidFill>
              <a:srgbClr val="1A2E42"/>
            </a:solidFill>
            <a:prstDash val="solid"/>
          </a:ln>
        </p:spPr>
      </p:sp>
      <p:sp>
        <p:nvSpPr>
          <p:cNvPr id="3" name="Shape 1"/>
          <p:cNvSpPr/>
          <p:nvPr/>
        </p:nvSpPr>
        <p:spPr>
          <a:xfrm>
            <a:off x="137160" y="0"/>
            <a:ext cx="9006840" cy="64008"/>
          </a:xfrm>
          <a:prstGeom prst="rect">
            <a:avLst/>
          </a:prstGeom>
          <a:solidFill>
            <a:srgbClr val="00838F"/>
          </a:solidFill>
          <a:ln w="12700">
            <a:solidFill>
              <a:srgbClr val="00838F"/>
            </a:solidFill>
            <a:prstDash val="solid"/>
          </a:ln>
        </p:spPr>
      </p:sp>
      <p:sp>
        <p:nvSpPr>
          <p:cNvPr id="4" name="Shape 2"/>
          <p:cNvSpPr/>
          <p:nvPr/>
        </p:nvSpPr>
        <p:spPr>
          <a:xfrm>
            <a:off x="137160" y="5079492"/>
            <a:ext cx="9006840" cy="64008"/>
          </a:xfrm>
          <a:prstGeom prst="rect">
            <a:avLst/>
          </a:prstGeom>
          <a:solidFill>
            <a:srgbClr val="00838F"/>
          </a:solidFill>
          <a:ln w="12700">
            <a:solidFill>
              <a:srgbClr val="00838F"/>
            </a:solidFill>
            <a:prstDash val="solid"/>
          </a:ln>
        </p:spPr>
      </p:sp>
      <p:sp>
        <p:nvSpPr>
          <p:cNvPr id="5" name="Text 3"/>
          <p:cNvSpPr/>
          <p:nvPr/>
        </p:nvSpPr>
        <p:spPr>
          <a:xfrm>
            <a:off x="320040" y="457200"/>
            <a:ext cx="8503920" cy="749808"/>
          </a:xfrm>
          <a:prstGeom prst="rect">
            <a:avLst/>
          </a:prstGeom>
          <a:noFill/>
          <a:ln/>
        </p:spPr>
        <p:txBody>
          <a:bodyPr wrap="square" rtlCol="0" anchor="ctr"/>
          <a:lstStyle/>
          <a:p>
            <a:pPr indent="0" marL="0">
              <a:buNone/>
            </a:pPr>
            <a:r>
              <a:rPr lang="en-US" sz="3800" b="1" dirty="0">
                <a:solidFill>
                  <a:srgbClr val="1A2E42"/>
                </a:solidFill>
                <a:latin typeface="Calibri" pitchFamily="34" charset="0"/>
                <a:ea typeface="Calibri" pitchFamily="34" charset="-122"/>
                <a:cs typeface="Calibri" pitchFamily="34" charset="-120"/>
              </a:rPr>
              <a:t>Smart Parking and</a:t>
            </a:r>
            <a:endParaRPr lang="en-US" sz="3800" dirty="0"/>
          </a:p>
        </p:txBody>
      </p:sp>
      <p:sp>
        <p:nvSpPr>
          <p:cNvPr id="6" name="Text 4"/>
          <p:cNvSpPr/>
          <p:nvPr/>
        </p:nvSpPr>
        <p:spPr>
          <a:xfrm>
            <a:off x="320040" y="1143000"/>
            <a:ext cx="8503920" cy="749808"/>
          </a:xfrm>
          <a:prstGeom prst="rect">
            <a:avLst/>
          </a:prstGeom>
          <a:noFill/>
          <a:ln/>
        </p:spPr>
        <p:txBody>
          <a:bodyPr wrap="square" rtlCol="0" anchor="ctr"/>
          <a:lstStyle/>
          <a:p>
            <a:pPr indent="0" marL="0">
              <a:buNone/>
            </a:pPr>
            <a:r>
              <a:rPr lang="en-US" sz="3800" b="1" dirty="0">
                <a:solidFill>
                  <a:srgbClr val="00838F"/>
                </a:solidFill>
                <a:latin typeface="Calibri" pitchFamily="34" charset="0"/>
                <a:ea typeface="Calibri" pitchFamily="34" charset="-122"/>
                <a:cs typeface="Calibri" pitchFamily="34" charset="-120"/>
              </a:rPr>
              <a:t>EV Charger Monitoring</a:t>
            </a:r>
            <a:endParaRPr lang="en-US" sz="3800" dirty="0"/>
          </a:p>
        </p:txBody>
      </p:sp>
      <p:sp>
        <p:nvSpPr>
          <p:cNvPr id="7" name="Text 5"/>
          <p:cNvSpPr/>
          <p:nvPr/>
        </p:nvSpPr>
        <p:spPr>
          <a:xfrm>
            <a:off x="320040" y="1965960"/>
            <a:ext cx="7315200" cy="365760"/>
          </a:xfrm>
          <a:prstGeom prst="rect">
            <a:avLst/>
          </a:prstGeom>
          <a:noFill/>
          <a:ln/>
        </p:spPr>
        <p:txBody>
          <a:bodyPr wrap="square" rtlCol="0" anchor="ctr"/>
          <a:lstStyle/>
          <a:p>
            <a:pPr indent="0" marL="0">
              <a:buNone/>
            </a:pPr>
            <a:r>
              <a:rPr lang="en-US" sz="1500" dirty="0">
                <a:solidFill>
                  <a:srgbClr val="546E7A"/>
                </a:solidFill>
                <a:latin typeface="Calibri" pitchFamily="34" charset="0"/>
                <a:ea typeface="Calibri" pitchFamily="34" charset="-122"/>
                <a:cs typeface="Calibri" pitchFamily="34" charset="-120"/>
              </a:rPr>
              <a:t>Fog and Serverless Cloud Architecture on AWS</a:t>
            </a:r>
            <a:endParaRPr lang="en-US" sz="1500" dirty="0"/>
          </a:p>
        </p:txBody>
      </p:sp>
      <p:sp>
        <p:nvSpPr>
          <p:cNvPr id="8" name="Shape 6"/>
          <p:cNvSpPr/>
          <p:nvPr/>
        </p:nvSpPr>
        <p:spPr>
          <a:xfrm>
            <a:off x="320040" y="2423160"/>
            <a:ext cx="4572000" cy="36576"/>
          </a:xfrm>
          <a:prstGeom prst="rect">
            <a:avLst/>
          </a:prstGeom>
          <a:solidFill>
            <a:srgbClr val="D5D8DC"/>
          </a:solidFill>
          <a:ln w="12700">
            <a:solidFill>
              <a:srgbClr val="D5D8DC"/>
            </a:solidFill>
            <a:prstDash val="solid"/>
          </a:ln>
        </p:spPr>
      </p:sp>
      <p:sp>
        <p:nvSpPr>
          <p:cNvPr id="9" name="Text 7"/>
          <p:cNvSpPr/>
          <p:nvPr/>
        </p:nvSpPr>
        <p:spPr>
          <a:xfrm>
            <a:off x="320040" y="2578608"/>
            <a:ext cx="8229600" cy="329184"/>
          </a:xfrm>
          <a:prstGeom prst="rect">
            <a:avLst/>
          </a:prstGeom>
          <a:noFill/>
          <a:ln/>
        </p:spPr>
        <p:txBody>
          <a:bodyPr wrap="square" rtlCol="0" anchor="ctr"/>
          <a:lstStyle/>
          <a:p>
            <a:pPr indent="0" marL="0">
              <a:buNone/>
            </a:pPr>
            <a:r>
              <a:rPr lang="en-US" sz="1400" dirty="0">
                <a:solidFill>
                  <a:srgbClr val="1A2E42"/>
                </a:solidFill>
                <a:latin typeface="Calibri" pitchFamily="34" charset="0"/>
                <a:ea typeface="Calibri" pitchFamily="34" charset="-122"/>
                <a:cs typeface="Calibri" pitchFamily="34" charset="-120"/>
              </a:rPr>
              <a:t>Harish Ramasamy</a:t>
            </a:r>
            <a:endParaRPr lang="en-US" sz="1400" dirty="0"/>
          </a:p>
        </p:txBody>
      </p:sp>
      <p:sp>
        <p:nvSpPr>
          <p:cNvPr id="10" name="Text 8"/>
          <p:cNvSpPr/>
          <p:nvPr/>
        </p:nvSpPr>
        <p:spPr>
          <a:xfrm>
            <a:off x="320040" y="2907792"/>
            <a:ext cx="8229600" cy="274320"/>
          </a:xfrm>
          <a:prstGeom prst="rect">
            <a:avLst/>
          </a:prstGeom>
          <a:noFill/>
          <a:ln/>
        </p:spPr>
        <p:txBody>
          <a:bodyPr wrap="square" rtlCol="0" anchor="ctr"/>
          <a:lstStyle/>
          <a:p>
            <a:pPr indent="0" marL="0">
              <a:buNone/>
            </a:pPr>
            <a:r>
              <a:rPr lang="en-US" sz="1100" dirty="0">
                <a:solidFill>
                  <a:srgbClr val="546E7A"/>
                </a:solidFill>
                <a:latin typeface="Calibri" pitchFamily="34" charset="0"/>
                <a:ea typeface="Calibri" pitchFamily="34" charset="-122"/>
                <a:cs typeface="Calibri" pitchFamily="34" charset="-120"/>
              </a:rPr>
              <a:t>MSc Cloud Computing  ·  National College of Ireland  ·  2026</a:t>
            </a:r>
            <a:endParaRPr lang="en-US" sz="1100" dirty="0"/>
          </a:p>
        </p:txBody>
      </p:sp>
      <p:sp>
        <p:nvSpPr>
          <p:cNvPr id="11" name="Text 9"/>
          <p:cNvSpPr/>
          <p:nvPr/>
        </p:nvSpPr>
        <p:spPr>
          <a:xfrm>
            <a:off x="320040" y="3182112"/>
            <a:ext cx="8229600" cy="256032"/>
          </a:xfrm>
          <a:prstGeom prst="rect">
            <a:avLst/>
          </a:prstGeom>
          <a:noFill/>
          <a:ln/>
        </p:spPr>
        <p:txBody>
          <a:bodyPr wrap="square" rtlCol="0" anchor="ctr"/>
          <a:lstStyle/>
          <a:p>
            <a:pPr indent="0" marL="0">
              <a:buNone/>
            </a:pPr>
            <a:r>
              <a:rPr lang="en-US" sz="1000" dirty="0">
                <a:solidFill>
                  <a:srgbClr val="546E7A"/>
                </a:solidFill>
                <a:latin typeface="Calibri" pitchFamily="34" charset="0"/>
                <a:ea typeface="Calibri" pitchFamily="34" charset="-122"/>
                <a:cs typeface="Calibri" pitchFamily="34" charset="-120"/>
              </a:rPr>
              <a:t>Module: Fog and Edge Computing  ·  Lecturer: Giovani Estrada  ·  Student ID: 24194654</a:t>
            </a:r>
            <a:endParaRPr lang="en-US" sz="1000" dirty="0"/>
          </a:p>
        </p:txBody>
      </p:sp>
      <p:sp>
        <p:nvSpPr>
          <p:cNvPr id="12" name="Shape 10"/>
          <p:cNvSpPr/>
          <p:nvPr/>
        </p:nvSpPr>
        <p:spPr>
          <a:xfrm>
            <a:off x="320040" y="3749040"/>
            <a:ext cx="2651760" cy="384048"/>
          </a:xfrm>
          <a:prstGeom prst="rect">
            <a:avLst/>
          </a:prstGeom>
          <a:solidFill>
            <a:srgbClr val="1565C0"/>
          </a:solidFill>
          <a:ln w="12700">
            <a:solidFill>
              <a:srgbClr val="1565C0"/>
            </a:solidFill>
            <a:prstDash val="solid"/>
          </a:ln>
        </p:spPr>
      </p:sp>
      <p:sp>
        <p:nvSpPr>
          <p:cNvPr id="13" name="Text 11"/>
          <p:cNvSpPr/>
          <p:nvPr/>
        </p:nvSpPr>
        <p:spPr>
          <a:xfrm>
            <a:off x="320040" y="3749040"/>
            <a:ext cx="265176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 IoT Sensors</a:t>
            </a:r>
            <a:endParaRPr lang="en-US" sz="1100" dirty="0"/>
          </a:p>
        </p:txBody>
      </p:sp>
      <p:sp>
        <p:nvSpPr>
          <p:cNvPr id="14" name="Shape 12"/>
          <p:cNvSpPr/>
          <p:nvPr/>
        </p:nvSpPr>
        <p:spPr>
          <a:xfrm>
            <a:off x="3154680" y="3749040"/>
            <a:ext cx="2651760" cy="384048"/>
          </a:xfrm>
          <a:prstGeom prst="rect">
            <a:avLst/>
          </a:prstGeom>
          <a:solidFill>
            <a:srgbClr val="00838F"/>
          </a:solidFill>
          <a:ln w="12700">
            <a:solidFill>
              <a:srgbClr val="00838F"/>
            </a:solidFill>
            <a:prstDash val="solid"/>
          </a:ln>
        </p:spPr>
      </p:sp>
      <p:sp>
        <p:nvSpPr>
          <p:cNvPr id="15" name="Text 13"/>
          <p:cNvSpPr/>
          <p:nvPr/>
        </p:nvSpPr>
        <p:spPr>
          <a:xfrm>
            <a:off x="3154680" y="3749040"/>
            <a:ext cx="265176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AWS Serverless Backend</a:t>
            </a:r>
            <a:endParaRPr lang="en-US" sz="1100" dirty="0"/>
          </a:p>
        </p:txBody>
      </p:sp>
      <p:sp>
        <p:nvSpPr>
          <p:cNvPr id="16" name="Shape 14"/>
          <p:cNvSpPr/>
          <p:nvPr/>
        </p:nvSpPr>
        <p:spPr>
          <a:xfrm>
            <a:off x="5989320" y="3749040"/>
            <a:ext cx="2651760" cy="384048"/>
          </a:xfrm>
          <a:prstGeom prst="rect">
            <a:avLst/>
          </a:prstGeom>
          <a:solidFill>
            <a:srgbClr val="1A2E42"/>
          </a:solidFill>
          <a:ln w="12700">
            <a:solidFill>
              <a:srgbClr val="1A2E42"/>
            </a:solidFill>
            <a:prstDash val="solid"/>
          </a:ln>
        </p:spPr>
      </p:sp>
      <p:sp>
        <p:nvSpPr>
          <p:cNvPr id="17" name="Text 15"/>
          <p:cNvSpPr/>
          <p:nvPr/>
        </p:nvSpPr>
        <p:spPr>
          <a:xfrm>
            <a:off x="5989320" y="3749040"/>
            <a:ext cx="2651760"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GitHub Actions CI/CD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E42"/>
          </a:solidFill>
          <a:ln w="12700">
            <a:solidFill>
              <a:srgbClr val="1A2E42"/>
            </a:solidFill>
            <a:prstDash val="solid"/>
          </a:ln>
        </p:spPr>
      </p:sp>
      <p:sp>
        <p:nvSpPr>
          <p:cNvPr id="3" name="Shape 1"/>
          <p:cNvSpPr/>
          <p:nvPr/>
        </p:nvSpPr>
        <p:spPr>
          <a:xfrm>
            <a:off x="0" y="749808"/>
            <a:ext cx="9144000" cy="45720"/>
          </a:xfrm>
          <a:prstGeom prst="rect">
            <a:avLst/>
          </a:prstGeom>
          <a:solidFill>
            <a:srgbClr val="00838F"/>
          </a:solidFill>
          <a:ln w="12700">
            <a:solidFill>
              <a:srgbClr val="00838F"/>
            </a:solidFill>
            <a:prstDash val="solid"/>
          </a:ln>
        </p:spPr>
      </p:sp>
      <p:sp>
        <p:nvSpPr>
          <p:cNvPr id="4" name="Text 2"/>
          <p:cNvSpPr/>
          <p:nvPr/>
        </p:nvSpPr>
        <p:spPr>
          <a:xfrm>
            <a:off x="27432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Abstract &amp; System Architecture</a:t>
            </a:r>
            <a:endParaRPr lang="en-US" sz="2200" dirty="0"/>
          </a:p>
        </p:txBody>
      </p:sp>
      <p:sp>
        <p:nvSpPr>
          <p:cNvPr id="5" name="Shape 3"/>
          <p:cNvSpPr/>
          <p:nvPr/>
        </p:nvSpPr>
        <p:spPr>
          <a:xfrm>
            <a:off x="0" y="4956048"/>
            <a:ext cx="9144000" cy="187452"/>
          </a:xfrm>
          <a:prstGeom prst="rect">
            <a:avLst/>
          </a:prstGeom>
          <a:solidFill>
            <a:srgbClr val="F4F7FB"/>
          </a:solidFill>
          <a:ln w="12700">
            <a:solidFill>
              <a:srgbClr val="D5D8DC"/>
            </a:solidFill>
            <a:prstDash val="solid"/>
          </a:ln>
        </p:spPr>
      </p:sp>
      <p:sp>
        <p:nvSpPr>
          <p:cNvPr id="6" name="Text 4"/>
          <p:cNvSpPr/>
          <p:nvPr/>
        </p:nvSpPr>
        <p:spPr>
          <a:xfrm>
            <a:off x="182880" y="4956048"/>
            <a:ext cx="8778240" cy="187452"/>
          </a:xfrm>
          <a:prstGeom prst="rect">
            <a:avLst/>
          </a:prstGeom>
          <a:noFill/>
          <a:ln/>
        </p:spPr>
        <p:txBody>
          <a:bodyPr wrap="square" rtlCol="0" anchor="ctr"/>
          <a:lstStyle/>
          <a:p>
            <a:pPr indent="0" marL="0">
              <a:buNone/>
            </a:pPr>
            <a:r>
              <a:rPr lang="en-US" sz="750" dirty="0">
                <a:solidFill>
                  <a:srgbClr val="546E7A"/>
                </a:solidFill>
                <a:latin typeface="Calibri" pitchFamily="34" charset="0"/>
                <a:ea typeface="Calibri" pitchFamily="34" charset="-122"/>
                <a:cs typeface="Calibri" pitchFamily="34" charset="-120"/>
              </a:rPr>
              <a:t>Smart Parking and EV Charger Monitoring  ·  Harish Ramasamy  ·  MSc Cloud Computing, NCI  ·  2026</a:t>
            </a:r>
            <a:endParaRPr lang="en-US" sz="750" dirty="0"/>
          </a:p>
        </p:txBody>
      </p:sp>
      <p:sp>
        <p:nvSpPr>
          <p:cNvPr id="7" name="Shape 5"/>
          <p:cNvSpPr/>
          <p:nvPr/>
        </p:nvSpPr>
        <p:spPr>
          <a:xfrm>
            <a:off x="256032" y="886968"/>
            <a:ext cx="4297680" cy="38404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8" name="Shape 6"/>
          <p:cNvSpPr/>
          <p:nvPr/>
        </p:nvSpPr>
        <p:spPr>
          <a:xfrm>
            <a:off x="256032" y="886968"/>
            <a:ext cx="4297680" cy="301752"/>
          </a:xfrm>
          <a:prstGeom prst="rect">
            <a:avLst/>
          </a:prstGeom>
          <a:solidFill>
            <a:srgbClr val="1565C0"/>
          </a:solidFill>
          <a:ln w="12700">
            <a:solidFill>
              <a:srgbClr val="1565C0"/>
            </a:solidFill>
            <a:prstDash val="solid"/>
          </a:ln>
        </p:spPr>
      </p:sp>
      <p:sp>
        <p:nvSpPr>
          <p:cNvPr id="9" name="Text 7"/>
          <p:cNvSpPr/>
          <p:nvPr/>
        </p:nvSpPr>
        <p:spPr>
          <a:xfrm>
            <a:off x="384048" y="886968"/>
            <a:ext cx="402336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Abstract</a:t>
            </a:r>
            <a:endParaRPr lang="en-US" sz="1100" dirty="0"/>
          </a:p>
        </p:txBody>
      </p:sp>
      <p:sp>
        <p:nvSpPr>
          <p:cNvPr id="10" name="Text 8"/>
          <p:cNvSpPr/>
          <p:nvPr/>
        </p:nvSpPr>
        <p:spPr>
          <a:xfrm>
            <a:off x="384048" y="1243584"/>
            <a:ext cx="4059936" cy="1554480"/>
          </a:xfrm>
          <a:prstGeom prst="rect">
            <a:avLst/>
          </a:prstGeom>
          <a:noFill/>
          <a:ln/>
        </p:spPr>
        <p:txBody>
          <a:bodyPr wrap="square" rtlCol="0" anchor="ctr"/>
          <a:lstStyle/>
          <a:p>
            <a:pPr indent="0" marL="0">
              <a:spcAft>
                <a:spcPts val="500"/>
              </a:spcAft>
              <a:buNone/>
            </a:pPr>
            <a:r>
              <a:rPr lang="en-US" sz="1000" dirty="0">
                <a:solidFill>
                  <a:srgbClr val="1A2E42"/>
                </a:solidFill>
                <a:latin typeface="Times New Roman" pitchFamily="34" charset="0"/>
                <a:ea typeface="Times New Roman" pitchFamily="34" charset="-122"/>
                <a:cs typeface="Times New Roman" pitchFamily="34" charset="-120"/>
              </a:rPr>
              <a:t>A Smart Parking and EV Charger Monitoring System built on fog computing and serverless AWS cloud architecture. Five virtual sensor simulators feed a Python fog node that filters, deduplicates, and enriches data before dispatching to Amazon SQS → AWS Lambda → DynamoDB → API Gateway. A React.js dashboard provides real-time visualisation. Deployment is fully automated via GitHub Actions CI/CD to Amazon EC2.</a:t>
            </a:r>
            <a:endParaRPr lang="en-US" sz="1000" dirty="0"/>
          </a:p>
        </p:txBody>
      </p:sp>
      <p:sp>
        <p:nvSpPr>
          <p:cNvPr id="11" name="Shape 9"/>
          <p:cNvSpPr/>
          <p:nvPr/>
        </p:nvSpPr>
        <p:spPr>
          <a:xfrm>
            <a:off x="384048" y="2907792"/>
            <a:ext cx="1261872" cy="1609344"/>
          </a:xfrm>
          <a:prstGeom prst="rect">
            <a:avLst/>
          </a:prstGeom>
          <a:solidFill>
            <a:srgbClr val="1565C0"/>
          </a:solidFill>
          <a:ln w="12700">
            <a:solidFill>
              <a:srgbClr val="1565C0"/>
            </a:solidFill>
            <a:prstDash val="solid"/>
          </a:ln>
        </p:spPr>
      </p:sp>
      <p:sp>
        <p:nvSpPr>
          <p:cNvPr id="12" name="Text 10"/>
          <p:cNvSpPr/>
          <p:nvPr/>
        </p:nvSpPr>
        <p:spPr>
          <a:xfrm>
            <a:off x="384048" y="2999232"/>
            <a:ext cx="1261872"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13" name="Text 11"/>
          <p:cNvSpPr/>
          <p:nvPr/>
        </p:nvSpPr>
        <p:spPr>
          <a:xfrm>
            <a:off x="384048" y="3657600"/>
            <a:ext cx="1261872" cy="62179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IoT Sensors</a:t>
            </a:r>
            <a:endParaRPr lang="en-US" sz="950" dirty="0"/>
          </a:p>
        </p:txBody>
      </p:sp>
      <p:sp>
        <p:nvSpPr>
          <p:cNvPr id="14" name="Shape 12"/>
          <p:cNvSpPr/>
          <p:nvPr/>
        </p:nvSpPr>
        <p:spPr>
          <a:xfrm>
            <a:off x="1773936" y="2907792"/>
            <a:ext cx="1261872" cy="1609344"/>
          </a:xfrm>
          <a:prstGeom prst="rect">
            <a:avLst/>
          </a:prstGeom>
          <a:solidFill>
            <a:srgbClr val="00838F"/>
          </a:solidFill>
          <a:ln w="12700">
            <a:solidFill>
              <a:srgbClr val="00838F"/>
            </a:solidFill>
            <a:prstDash val="solid"/>
          </a:ln>
        </p:spPr>
      </p:sp>
      <p:sp>
        <p:nvSpPr>
          <p:cNvPr id="15" name="Text 13"/>
          <p:cNvSpPr/>
          <p:nvPr/>
        </p:nvSpPr>
        <p:spPr>
          <a:xfrm>
            <a:off x="1773936" y="2999232"/>
            <a:ext cx="1261872"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6" name="Text 14"/>
          <p:cNvSpPr/>
          <p:nvPr/>
        </p:nvSpPr>
        <p:spPr>
          <a:xfrm>
            <a:off x="1773936" y="3657600"/>
            <a:ext cx="1261872" cy="62179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AWS Services</a:t>
            </a:r>
            <a:endParaRPr lang="en-US" sz="950" dirty="0"/>
          </a:p>
        </p:txBody>
      </p:sp>
      <p:sp>
        <p:nvSpPr>
          <p:cNvPr id="17" name="Shape 15"/>
          <p:cNvSpPr/>
          <p:nvPr/>
        </p:nvSpPr>
        <p:spPr>
          <a:xfrm>
            <a:off x="3163824" y="2907792"/>
            <a:ext cx="1261872" cy="1609344"/>
          </a:xfrm>
          <a:prstGeom prst="rect">
            <a:avLst/>
          </a:prstGeom>
          <a:solidFill>
            <a:srgbClr val="2E7D32"/>
          </a:solidFill>
          <a:ln w="12700">
            <a:solidFill>
              <a:srgbClr val="2E7D32"/>
            </a:solidFill>
            <a:prstDash val="solid"/>
          </a:ln>
        </p:spPr>
      </p:sp>
      <p:sp>
        <p:nvSpPr>
          <p:cNvPr id="18" name="Text 16"/>
          <p:cNvSpPr/>
          <p:nvPr/>
        </p:nvSpPr>
        <p:spPr>
          <a:xfrm>
            <a:off x="3163824" y="2999232"/>
            <a:ext cx="1261872"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7</a:t>
            </a:r>
            <a:endParaRPr lang="en-US" sz="2800" dirty="0"/>
          </a:p>
        </p:txBody>
      </p:sp>
      <p:sp>
        <p:nvSpPr>
          <p:cNvPr id="19" name="Text 17"/>
          <p:cNvSpPr/>
          <p:nvPr/>
        </p:nvSpPr>
        <p:spPr>
          <a:xfrm>
            <a:off x="3163824" y="3657600"/>
            <a:ext cx="1261872" cy="621792"/>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Figures</a:t>
            </a:r>
            <a:endParaRPr lang="en-US" sz="950" dirty="0"/>
          </a:p>
        </p:txBody>
      </p:sp>
      <p:sp>
        <p:nvSpPr>
          <p:cNvPr id="20" name="Shape 18"/>
          <p:cNvSpPr/>
          <p:nvPr/>
        </p:nvSpPr>
        <p:spPr>
          <a:xfrm>
            <a:off x="4773168" y="886968"/>
            <a:ext cx="4114800" cy="38404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21" name="Shape 19"/>
          <p:cNvSpPr/>
          <p:nvPr/>
        </p:nvSpPr>
        <p:spPr>
          <a:xfrm>
            <a:off x="4773168" y="886968"/>
            <a:ext cx="4114800" cy="301752"/>
          </a:xfrm>
          <a:prstGeom prst="rect">
            <a:avLst/>
          </a:prstGeom>
          <a:solidFill>
            <a:srgbClr val="1A2E42"/>
          </a:solidFill>
          <a:ln w="12700">
            <a:solidFill>
              <a:srgbClr val="1A2E42"/>
            </a:solidFill>
            <a:prstDash val="solid"/>
          </a:ln>
        </p:spPr>
      </p:sp>
      <p:sp>
        <p:nvSpPr>
          <p:cNvPr id="22" name="Text 20"/>
          <p:cNvSpPr/>
          <p:nvPr/>
        </p:nvSpPr>
        <p:spPr>
          <a:xfrm>
            <a:off x="4901184" y="886968"/>
            <a:ext cx="384048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3-Layer Architecture</a:t>
            </a:r>
            <a:endParaRPr lang="en-US" sz="1100" dirty="0"/>
          </a:p>
        </p:txBody>
      </p:sp>
      <p:sp>
        <p:nvSpPr>
          <p:cNvPr id="23" name="Shape 21"/>
          <p:cNvSpPr/>
          <p:nvPr/>
        </p:nvSpPr>
        <p:spPr>
          <a:xfrm>
            <a:off x="4846320" y="1280160"/>
            <a:ext cx="3931920" cy="1005840"/>
          </a:xfrm>
          <a:prstGeom prst="rect">
            <a:avLst/>
          </a:prstGeom>
          <a:solidFill>
            <a:srgbClr val="FFF8E1"/>
          </a:solidFill>
          <a:ln w="10160">
            <a:solidFill>
              <a:srgbClr val="E65100"/>
            </a:solidFill>
            <a:prstDash val="solid"/>
          </a:ln>
        </p:spPr>
      </p:sp>
      <p:sp>
        <p:nvSpPr>
          <p:cNvPr id="24" name="Text 22"/>
          <p:cNvSpPr/>
          <p:nvPr/>
        </p:nvSpPr>
        <p:spPr>
          <a:xfrm>
            <a:off x="4919472" y="1307592"/>
            <a:ext cx="3200400" cy="182880"/>
          </a:xfrm>
          <a:prstGeom prst="rect">
            <a:avLst/>
          </a:prstGeom>
          <a:noFill/>
          <a:ln/>
        </p:spPr>
        <p:txBody>
          <a:bodyPr wrap="square" rtlCol="0" anchor="ctr"/>
          <a:lstStyle/>
          <a:p>
            <a:pPr indent="0" marL="0">
              <a:buNone/>
            </a:pPr>
            <a:r>
              <a:rPr lang="en-US" sz="700" b="1" dirty="0">
                <a:solidFill>
                  <a:srgbClr val="E65100"/>
                </a:solidFill>
                <a:latin typeface="Calibri" pitchFamily="34" charset="0"/>
                <a:ea typeface="Calibri" pitchFamily="34" charset="-122"/>
                <a:cs typeface="Calibri" pitchFamily="34" charset="-120"/>
              </a:rPr>
              <a:t>LAYER 1  —  SENSOR</a:t>
            </a:r>
            <a:endParaRPr lang="en-US" sz="700" dirty="0"/>
          </a:p>
        </p:txBody>
      </p:sp>
      <p:sp>
        <p:nvSpPr>
          <p:cNvPr id="25" name="Shape 23"/>
          <p:cNvSpPr/>
          <p:nvPr/>
        </p:nvSpPr>
        <p:spPr>
          <a:xfrm>
            <a:off x="4901184" y="1527048"/>
            <a:ext cx="694944" cy="530352"/>
          </a:xfrm>
          <a:prstGeom prst="rect">
            <a:avLst/>
          </a:prstGeom>
          <a:solidFill>
            <a:srgbClr val="1565C0"/>
          </a:solidFill>
          <a:ln w="12700">
            <a:solidFill>
              <a:srgbClr val="1565C0"/>
            </a:solidFill>
            <a:prstDash val="solid"/>
          </a:ln>
        </p:spPr>
      </p:sp>
      <p:sp>
        <p:nvSpPr>
          <p:cNvPr id="26" name="Text 24"/>
          <p:cNvSpPr/>
          <p:nvPr/>
        </p:nvSpPr>
        <p:spPr>
          <a:xfrm>
            <a:off x="4901184" y="1527048"/>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Parking</a:t>
            </a:r>
            <a:endParaRPr lang="en-US" sz="750" dirty="0"/>
          </a:p>
        </p:txBody>
      </p:sp>
      <p:sp>
        <p:nvSpPr>
          <p:cNvPr id="27" name="Shape 25"/>
          <p:cNvSpPr/>
          <p:nvPr/>
        </p:nvSpPr>
        <p:spPr>
          <a:xfrm>
            <a:off x="5660136" y="1527048"/>
            <a:ext cx="694944" cy="530352"/>
          </a:xfrm>
          <a:prstGeom prst="rect">
            <a:avLst/>
          </a:prstGeom>
          <a:solidFill>
            <a:srgbClr val="2E7D32"/>
          </a:solidFill>
          <a:ln w="12700">
            <a:solidFill>
              <a:srgbClr val="2E7D32"/>
            </a:solidFill>
            <a:prstDash val="solid"/>
          </a:ln>
        </p:spPr>
      </p:sp>
      <p:sp>
        <p:nvSpPr>
          <p:cNvPr id="28" name="Text 26"/>
          <p:cNvSpPr/>
          <p:nvPr/>
        </p:nvSpPr>
        <p:spPr>
          <a:xfrm>
            <a:off x="5660136" y="1527048"/>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EV Charger</a:t>
            </a:r>
            <a:endParaRPr lang="en-US" sz="750" dirty="0"/>
          </a:p>
        </p:txBody>
      </p:sp>
      <p:sp>
        <p:nvSpPr>
          <p:cNvPr id="29" name="Shape 27"/>
          <p:cNvSpPr/>
          <p:nvPr/>
        </p:nvSpPr>
        <p:spPr>
          <a:xfrm>
            <a:off x="6419088" y="1527048"/>
            <a:ext cx="694944" cy="530352"/>
          </a:xfrm>
          <a:prstGeom prst="rect">
            <a:avLst/>
          </a:prstGeom>
          <a:solidFill>
            <a:srgbClr val="E65100"/>
          </a:solidFill>
          <a:ln w="12700">
            <a:solidFill>
              <a:srgbClr val="E65100"/>
            </a:solidFill>
            <a:prstDash val="solid"/>
          </a:ln>
        </p:spPr>
      </p:sp>
      <p:sp>
        <p:nvSpPr>
          <p:cNvPr id="30" name="Text 28"/>
          <p:cNvSpPr/>
          <p:nvPr/>
        </p:nvSpPr>
        <p:spPr>
          <a:xfrm>
            <a:off x="6419088" y="1527048"/>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Temperature</a:t>
            </a:r>
            <a:endParaRPr lang="en-US" sz="750" dirty="0"/>
          </a:p>
        </p:txBody>
      </p:sp>
      <p:sp>
        <p:nvSpPr>
          <p:cNvPr id="31" name="Shape 29"/>
          <p:cNvSpPr/>
          <p:nvPr/>
        </p:nvSpPr>
        <p:spPr>
          <a:xfrm>
            <a:off x="7178040" y="1527048"/>
            <a:ext cx="694944" cy="530352"/>
          </a:xfrm>
          <a:prstGeom prst="rect">
            <a:avLst/>
          </a:prstGeom>
          <a:solidFill>
            <a:srgbClr val="6A1B9A"/>
          </a:solidFill>
          <a:ln w="12700">
            <a:solidFill>
              <a:srgbClr val="6A1B9A"/>
            </a:solidFill>
            <a:prstDash val="solid"/>
          </a:ln>
        </p:spPr>
      </p:sp>
      <p:sp>
        <p:nvSpPr>
          <p:cNvPr id="32" name="Text 30"/>
          <p:cNvSpPr/>
          <p:nvPr/>
        </p:nvSpPr>
        <p:spPr>
          <a:xfrm>
            <a:off x="7178040" y="1527048"/>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Air Quality</a:t>
            </a:r>
            <a:endParaRPr lang="en-US" sz="750" dirty="0"/>
          </a:p>
        </p:txBody>
      </p:sp>
      <p:sp>
        <p:nvSpPr>
          <p:cNvPr id="33" name="Shape 31"/>
          <p:cNvSpPr/>
          <p:nvPr/>
        </p:nvSpPr>
        <p:spPr>
          <a:xfrm>
            <a:off x="7936992" y="1527048"/>
            <a:ext cx="694944" cy="530352"/>
          </a:xfrm>
          <a:prstGeom prst="rect">
            <a:avLst/>
          </a:prstGeom>
          <a:solidFill>
            <a:srgbClr val="00838F"/>
          </a:solidFill>
          <a:ln w="12700">
            <a:solidFill>
              <a:srgbClr val="00838F"/>
            </a:solidFill>
            <a:prstDash val="solid"/>
          </a:ln>
        </p:spPr>
      </p:sp>
      <p:sp>
        <p:nvSpPr>
          <p:cNvPr id="34" name="Text 32"/>
          <p:cNvSpPr/>
          <p:nvPr/>
        </p:nvSpPr>
        <p:spPr>
          <a:xfrm>
            <a:off x="7936992" y="1527048"/>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Vehicle Counter</a:t>
            </a:r>
            <a:endParaRPr lang="en-US" sz="750" dirty="0"/>
          </a:p>
        </p:txBody>
      </p:sp>
      <p:sp>
        <p:nvSpPr>
          <p:cNvPr id="35" name="Text 33"/>
          <p:cNvSpPr/>
          <p:nvPr/>
        </p:nvSpPr>
        <p:spPr>
          <a:xfrm>
            <a:off x="6675120" y="2286000"/>
            <a:ext cx="365760" cy="109728"/>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a:t>
            </a:r>
            <a:endParaRPr lang="en-US" sz="1000" dirty="0"/>
          </a:p>
        </p:txBody>
      </p:sp>
      <p:sp>
        <p:nvSpPr>
          <p:cNvPr id="36" name="Shape 34"/>
          <p:cNvSpPr/>
          <p:nvPr/>
        </p:nvSpPr>
        <p:spPr>
          <a:xfrm>
            <a:off x="4846320" y="2395728"/>
            <a:ext cx="3931920" cy="1005840"/>
          </a:xfrm>
          <a:prstGeom prst="rect">
            <a:avLst/>
          </a:prstGeom>
          <a:solidFill>
            <a:srgbClr val="E8F5E9"/>
          </a:solidFill>
          <a:ln w="10160">
            <a:solidFill>
              <a:srgbClr val="2E7D32"/>
            </a:solidFill>
            <a:prstDash val="solid"/>
          </a:ln>
        </p:spPr>
      </p:sp>
      <p:sp>
        <p:nvSpPr>
          <p:cNvPr id="37" name="Text 35"/>
          <p:cNvSpPr/>
          <p:nvPr/>
        </p:nvSpPr>
        <p:spPr>
          <a:xfrm>
            <a:off x="4919472" y="2423160"/>
            <a:ext cx="3200400" cy="182880"/>
          </a:xfrm>
          <a:prstGeom prst="rect">
            <a:avLst/>
          </a:prstGeom>
          <a:noFill/>
          <a:ln/>
        </p:spPr>
        <p:txBody>
          <a:bodyPr wrap="square" rtlCol="0" anchor="ctr"/>
          <a:lstStyle/>
          <a:p>
            <a:pPr indent="0" marL="0">
              <a:buNone/>
            </a:pPr>
            <a:r>
              <a:rPr lang="en-US" sz="700" b="1" dirty="0">
                <a:solidFill>
                  <a:srgbClr val="2E7D32"/>
                </a:solidFill>
                <a:latin typeface="Calibri" pitchFamily="34" charset="0"/>
                <a:ea typeface="Calibri" pitchFamily="34" charset="-122"/>
                <a:cs typeface="Calibri" pitchFamily="34" charset="-120"/>
              </a:rPr>
              <a:t>LAYER 2  —  FOG NODE</a:t>
            </a:r>
            <a:endParaRPr lang="en-US" sz="700" dirty="0"/>
          </a:p>
        </p:txBody>
      </p:sp>
      <p:sp>
        <p:nvSpPr>
          <p:cNvPr id="38" name="Shape 36"/>
          <p:cNvSpPr/>
          <p:nvPr/>
        </p:nvSpPr>
        <p:spPr>
          <a:xfrm>
            <a:off x="4901184" y="2642616"/>
            <a:ext cx="694944" cy="530352"/>
          </a:xfrm>
          <a:prstGeom prst="rect">
            <a:avLst/>
          </a:prstGeom>
          <a:solidFill>
            <a:srgbClr val="2E7D32"/>
          </a:solidFill>
          <a:ln w="12700">
            <a:solidFill>
              <a:srgbClr val="2E7D32"/>
            </a:solidFill>
            <a:prstDash val="solid"/>
          </a:ln>
        </p:spPr>
      </p:sp>
      <p:sp>
        <p:nvSpPr>
          <p:cNvPr id="39" name="Text 37"/>
          <p:cNvSpPr/>
          <p:nvPr/>
        </p:nvSpPr>
        <p:spPr>
          <a:xfrm>
            <a:off x="4901184" y="2642616"/>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Validate</a:t>
            </a:r>
            <a:endParaRPr lang="en-US" sz="750" dirty="0"/>
          </a:p>
        </p:txBody>
      </p:sp>
      <p:sp>
        <p:nvSpPr>
          <p:cNvPr id="40" name="Shape 38"/>
          <p:cNvSpPr/>
          <p:nvPr/>
        </p:nvSpPr>
        <p:spPr>
          <a:xfrm>
            <a:off x="5660136" y="2642616"/>
            <a:ext cx="694944" cy="530352"/>
          </a:xfrm>
          <a:prstGeom prst="rect">
            <a:avLst/>
          </a:prstGeom>
          <a:solidFill>
            <a:srgbClr val="2E7D32"/>
          </a:solidFill>
          <a:ln w="12700">
            <a:solidFill>
              <a:srgbClr val="2E7D32"/>
            </a:solidFill>
            <a:prstDash val="solid"/>
          </a:ln>
        </p:spPr>
      </p:sp>
      <p:sp>
        <p:nvSpPr>
          <p:cNvPr id="41" name="Text 39"/>
          <p:cNvSpPr/>
          <p:nvPr/>
        </p:nvSpPr>
        <p:spPr>
          <a:xfrm>
            <a:off x="5660136" y="2642616"/>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Deduplicate</a:t>
            </a:r>
            <a:endParaRPr lang="en-US" sz="750" dirty="0"/>
          </a:p>
        </p:txBody>
      </p:sp>
      <p:sp>
        <p:nvSpPr>
          <p:cNvPr id="42" name="Shape 40"/>
          <p:cNvSpPr/>
          <p:nvPr/>
        </p:nvSpPr>
        <p:spPr>
          <a:xfrm>
            <a:off x="6419088" y="2642616"/>
            <a:ext cx="694944" cy="530352"/>
          </a:xfrm>
          <a:prstGeom prst="rect">
            <a:avLst/>
          </a:prstGeom>
          <a:solidFill>
            <a:srgbClr val="2E7D32"/>
          </a:solidFill>
          <a:ln w="12700">
            <a:solidFill>
              <a:srgbClr val="2E7D32"/>
            </a:solidFill>
            <a:prstDash val="solid"/>
          </a:ln>
        </p:spPr>
      </p:sp>
      <p:sp>
        <p:nvSpPr>
          <p:cNvPr id="43" name="Text 41"/>
          <p:cNvSpPr/>
          <p:nvPr/>
        </p:nvSpPr>
        <p:spPr>
          <a:xfrm>
            <a:off x="6419088" y="2642616"/>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Alert</a:t>
            </a:r>
            <a:endParaRPr lang="en-US" sz="750" dirty="0"/>
          </a:p>
        </p:txBody>
      </p:sp>
      <p:sp>
        <p:nvSpPr>
          <p:cNvPr id="44" name="Shape 42"/>
          <p:cNvSpPr/>
          <p:nvPr/>
        </p:nvSpPr>
        <p:spPr>
          <a:xfrm>
            <a:off x="7178040" y="2642616"/>
            <a:ext cx="694944" cy="530352"/>
          </a:xfrm>
          <a:prstGeom prst="rect">
            <a:avLst/>
          </a:prstGeom>
          <a:solidFill>
            <a:srgbClr val="2E7D32"/>
          </a:solidFill>
          <a:ln w="12700">
            <a:solidFill>
              <a:srgbClr val="2E7D32"/>
            </a:solidFill>
            <a:prstDash val="solid"/>
          </a:ln>
        </p:spPr>
      </p:sp>
      <p:sp>
        <p:nvSpPr>
          <p:cNvPr id="45" name="Text 43"/>
          <p:cNvSpPr/>
          <p:nvPr/>
        </p:nvSpPr>
        <p:spPr>
          <a:xfrm>
            <a:off x="7178040" y="2642616"/>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Enrich</a:t>
            </a:r>
            <a:endParaRPr lang="en-US" sz="750" dirty="0"/>
          </a:p>
        </p:txBody>
      </p:sp>
      <p:sp>
        <p:nvSpPr>
          <p:cNvPr id="46" name="Shape 44"/>
          <p:cNvSpPr/>
          <p:nvPr/>
        </p:nvSpPr>
        <p:spPr>
          <a:xfrm>
            <a:off x="7936992" y="2642616"/>
            <a:ext cx="694944" cy="530352"/>
          </a:xfrm>
          <a:prstGeom prst="rect">
            <a:avLst/>
          </a:prstGeom>
          <a:solidFill>
            <a:srgbClr val="2E7D32"/>
          </a:solidFill>
          <a:ln w="12700">
            <a:solidFill>
              <a:srgbClr val="2E7D32"/>
            </a:solidFill>
            <a:prstDash val="solid"/>
          </a:ln>
        </p:spPr>
      </p:sp>
      <p:sp>
        <p:nvSpPr>
          <p:cNvPr id="47" name="Text 45"/>
          <p:cNvSpPr/>
          <p:nvPr/>
        </p:nvSpPr>
        <p:spPr>
          <a:xfrm>
            <a:off x="7936992" y="2642616"/>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Forward</a:t>
            </a:r>
            <a:endParaRPr lang="en-US" sz="750" dirty="0"/>
          </a:p>
        </p:txBody>
      </p:sp>
      <p:sp>
        <p:nvSpPr>
          <p:cNvPr id="48" name="Text 46"/>
          <p:cNvSpPr/>
          <p:nvPr/>
        </p:nvSpPr>
        <p:spPr>
          <a:xfrm>
            <a:off x="6675120" y="3401568"/>
            <a:ext cx="365760" cy="109728"/>
          </a:xfrm>
          <a:prstGeom prst="rect">
            <a:avLst/>
          </a:prstGeom>
          <a:noFill/>
          <a:ln/>
        </p:spPr>
        <p:txBody>
          <a:bodyPr wrap="square" rtlCol="0" anchor="ctr"/>
          <a:lstStyle/>
          <a:p>
            <a:pPr algn="ctr" indent="0" marL="0">
              <a:buNone/>
            </a:pPr>
            <a:r>
              <a:rPr lang="en-US" sz="1000" dirty="0">
                <a:solidFill>
                  <a:srgbClr val="546E7A"/>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4846320" y="3511296"/>
            <a:ext cx="3931920" cy="1005840"/>
          </a:xfrm>
          <a:prstGeom prst="rect">
            <a:avLst/>
          </a:prstGeom>
          <a:solidFill>
            <a:srgbClr val="E3F2FD"/>
          </a:solidFill>
          <a:ln w="10160">
            <a:solidFill>
              <a:srgbClr val="1565C0"/>
            </a:solidFill>
            <a:prstDash val="solid"/>
          </a:ln>
        </p:spPr>
      </p:sp>
      <p:sp>
        <p:nvSpPr>
          <p:cNvPr id="50" name="Text 48"/>
          <p:cNvSpPr/>
          <p:nvPr/>
        </p:nvSpPr>
        <p:spPr>
          <a:xfrm>
            <a:off x="4919472" y="3538728"/>
            <a:ext cx="3200400" cy="182880"/>
          </a:xfrm>
          <a:prstGeom prst="rect">
            <a:avLst/>
          </a:prstGeom>
          <a:noFill/>
          <a:ln/>
        </p:spPr>
        <p:txBody>
          <a:bodyPr wrap="square" rtlCol="0" anchor="ctr"/>
          <a:lstStyle/>
          <a:p>
            <a:pPr indent="0" marL="0">
              <a:buNone/>
            </a:pPr>
            <a:r>
              <a:rPr lang="en-US" sz="700" b="1" dirty="0">
                <a:solidFill>
                  <a:srgbClr val="1565C0"/>
                </a:solidFill>
                <a:latin typeface="Calibri" pitchFamily="34" charset="0"/>
                <a:ea typeface="Calibri" pitchFamily="34" charset="-122"/>
                <a:cs typeface="Calibri" pitchFamily="34" charset="-120"/>
              </a:rPr>
              <a:t>LAYER 3  —  AWS CLOUD</a:t>
            </a:r>
            <a:endParaRPr lang="en-US" sz="700" dirty="0"/>
          </a:p>
        </p:txBody>
      </p:sp>
      <p:sp>
        <p:nvSpPr>
          <p:cNvPr id="51" name="Shape 49"/>
          <p:cNvSpPr/>
          <p:nvPr/>
        </p:nvSpPr>
        <p:spPr>
          <a:xfrm>
            <a:off x="4901184" y="3758184"/>
            <a:ext cx="694944" cy="530352"/>
          </a:xfrm>
          <a:prstGeom prst="rect">
            <a:avLst/>
          </a:prstGeom>
          <a:solidFill>
            <a:srgbClr val="E65100"/>
          </a:solidFill>
          <a:ln w="12700">
            <a:solidFill>
              <a:srgbClr val="E65100"/>
            </a:solidFill>
            <a:prstDash val="solid"/>
          </a:ln>
        </p:spPr>
      </p:sp>
      <p:sp>
        <p:nvSpPr>
          <p:cNvPr id="52" name="Text 50"/>
          <p:cNvSpPr/>
          <p:nvPr/>
        </p:nvSpPr>
        <p:spPr>
          <a:xfrm>
            <a:off x="4901184" y="3758184"/>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API GW</a:t>
            </a:r>
            <a:endParaRPr lang="en-US" sz="750" dirty="0"/>
          </a:p>
        </p:txBody>
      </p:sp>
      <p:sp>
        <p:nvSpPr>
          <p:cNvPr id="53" name="Shape 51"/>
          <p:cNvSpPr/>
          <p:nvPr/>
        </p:nvSpPr>
        <p:spPr>
          <a:xfrm>
            <a:off x="5660136" y="3758184"/>
            <a:ext cx="694944" cy="530352"/>
          </a:xfrm>
          <a:prstGeom prst="rect">
            <a:avLst/>
          </a:prstGeom>
          <a:solidFill>
            <a:srgbClr val="C62828"/>
          </a:solidFill>
          <a:ln w="12700">
            <a:solidFill>
              <a:srgbClr val="C62828"/>
            </a:solidFill>
            <a:prstDash val="solid"/>
          </a:ln>
        </p:spPr>
      </p:sp>
      <p:sp>
        <p:nvSpPr>
          <p:cNvPr id="54" name="Text 52"/>
          <p:cNvSpPr/>
          <p:nvPr/>
        </p:nvSpPr>
        <p:spPr>
          <a:xfrm>
            <a:off x="5660136" y="3758184"/>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SQS</a:t>
            </a:r>
            <a:endParaRPr lang="en-US" sz="750" dirty="0"/>
          </a:p>
        </p:txBody>
      </p:sp>
      <p:sp>
        <p:nvSpPr>
          <p:cNvPr id="55" name="Shape 53"/>
          <p:cNvSpPr/>
          <p:nvPr/>
        </p:nvSpPr>
        <p:spPr>
          <a:xfrm>
            <a:off x="6419088" y="3758184"/>
            <a:ext cx="694944" cy="530352"/>
          </a:xfrm>
          <a:prstGeom prst="rect">
            <a:avLst/>
          </a:prstGeom>
          <a:solidFill>
            <a:srgbClr val="6A1B9A"/>
          </a:solidFill>
          <a:ln w="12700">
            <a:solidFill>
              <a:srgbClr val="6A1B9A"/>
            </a:solidFill>
            <a:prstDash val="solid"/>
          </a:ln>
        </p:spPr>
      </p:sp>
      <p:sp>
        <p:nvSpPr>
          <p:cNvPr id="56" name="Text 54"/>
          <p:cNvSpPr/>
          <p:nvPr/>
        </p:nvSpPr>
        <p:spPr>
          <a:xfrm>
            <a:off x="6419088" y="3758184"/>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Lambda</a:t>
            </a:r>
            <a:endParaRPr lang="en-US" sz="750" dirty="0"/>
          </a:p>
        </p:txBody>
      </p:sp>
      <p:sp>
        <p:nvSpPr>
          <p:cNvPr id="57" name="Shape 55"/>
          <p:cNvSpPr/>
          <p:nvPr/>
        </p:nvSpPr>
        <p:spPr>
          <a:xfrm>
            <a:off x="7178040" y="3758184"/>
            <a:ext cx="694944" cy="530352"/>
          </a:xfrm>
          <a:prstGeom prst="rect">
            <a:avLst/>
          </a:prstGeom>
          <a:solidFill>
            <a:srgbClr val="1565C0"/>
          </a:solidFill>
          <a:ln w="12700">
            <a:solidFill>
              <a:srgbClr val="1565C0"/>
            </a:solidFill>
            <a:prstDash val="solid"/>
          </a:ln>
        </p:spPr>
      </p:sp>
      <p:sp>
        <p:nvSpPr>
          <p:cNvPr id="58" name="Text 56"/>
          <p:cNvSpPr/>
          <p:nvPr/>
        </p:nvSpPr>
        <p:spPr>
          <a:xfrm>
            <a:off x="7178040" y="3758184"/>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DynamoDB</a:t>
            </a:r>
            <a:endParaRPr lang="en-US" sz="750" dirty="0"/>
          </a:p>
        </p:txBody>
      </p:sp>
      <p:sp>
        <p:nvSpPr>
          <p:cNvPr id="59" name="Shape 57"/>
          <p:cNvSpPr/>
          <p:nvPr/>
        </p:nvSpPr>
        <p:spPr>
          <a:xfrm>
            <a:off x="7936992" y="3758184"/>
            <a:ext cx="694944" cy="530352"/>
          </a:xfrm>
          <a:prstGeom prst="rect">
            <a:avLst/>
          </a:prstGeom>
          <a:solidFill>
            <a:srgbClr val="00838F"/>
          </a:solidFill>
          <a:ln w="12700">
            <a:solidFill>
              <a:srgbClr val="00838F"/>
            </a:solidFill>
            <a:prstDash val="solid"/>
          </a:ln>
        </p:spPr>
      </p:sp>
      <p:sp>
        <p:nvSpPr>
          <p:cNvPr id="60" name="Text 58"/>
          <p:cNvSpPr/>
          <p:nvPr/>
        </p:nvSpPr>
        <p:spPr>
          <a:xfrm>
            <a:off x="7936992" y="3758184"/>
            <a:ext cx="694944" cy="53035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Dashboard</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E42"/>
          </a:solidFill>
          <a:ln w="12700">
            <a:solidFill>
              <a:srgbClr val="1A2E42"/>
            </a:solidFill>
            <a:prstDash val="solid"/>
          </a:ln>
        </p:spPr>
      </p:sp>
      <p:sp>
        <p:nvSpPr>
          <p:cNvPr id="3" name="Shape 1"/>
          <p:cNvSpPr/>
          <p:nvPr/>
        </p:nvSpPr>
        <p:spPr>
          <a:xfrm>
            <a:off x="0" y="749808"/>
            <a:ext cx="9144000" cy="45720"/>
          </a:xfrm>
          <a:prstGeom prst="rect">
            <a:avLst/>
          </a:prstGeom>
          <a:solidFill>
            <a:srgbClr val="00838F"/>
          </a:solidFill>
          <a:ln w="12700">
            <a:solidFill>
              <a:srgbClr val="00838F"/>
            </a:solidFill>
            <a:prstDash val="solid"/>
          </a:ln>
        </p:spPr>
      </p:sp>
      <p:sp>
        <p:nvSpPr>
          <p:cNvPr id="4" name="Text 2"/>
          <p:cNvSpPr/>
          <p:nvPr/>
        </p:nvSpPr>
        <p:spPr>
          <a:xfrm>
            <a:off x="27432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Sensor Layer &amp; Fog Node</a:t>
            </a:r>
            <a:endParaRPr lang="en-US" sz="2200" dirty="0"/>
          </a:p>
        </p:txBody>
      </p:sp>
      <p:sp>
        <p:nvSpPr>
          <p:cNvPr id="5" name="Shape 3"/>
          <p:cNvSpPr/>
          <p:nvPr/>
        </p:nvSpPr>
        <p:spPr>
          <a:xfrm>
            <a:off x="0" y="4956048"/>
            <a:ext cx="9144000" cy="187452"/>
          </a:xfrm>
          <a:prstGeom prst="rect">
            <a:avLst/>
          </a:prstGeom>
          <a:solidFill>
            <a:srgbClr val="F4F7FB"/>
          </a:solidFill>
          <a:ln w="12700">
            <a:solidFill>
              <a:srgbClr val="D5D8DC"/>
            </a:solidFill>
            <a:prstDash val="solid"/>
          </a:ln>
        </p:spPr>
      </p:sp>
      <p:sp>
        <p:nvSpPr>
          <p:cNvPr id="6" name="Text 4"/>
          <p:cNvSpPr/>
          <p:nvPr/>
        </p:nvSpPr>
        <p:spPr>
          <a:xfrm>
            <a:off x="182880" y="4956048"/>
            <a:ext cx="8778240" cy="187452"/>
          </a:xfrm>
          <a:prstGeom prst="rect">
            <a:avLst/>
          </a:prstGeom>
          <a:noFill/>
          <a:ln/>
        </p:spPr>
        <p:txBody>
          <a:bodyPr wrap="square" rtlCol="0" anchor="ctr"/>
          <a:lstStyle/>
          <a:p>
            <a:pPr indent="0" marL="0">
              <a:buNone/>
            </a:pPr>
            <a:r>
              <a:rPr lang="en-US" sz="750" dirty="0">
                <a:solidFill>
                  <a:srgbClr val="546E7A"/>
                </a:solidFill>
                <a:latin typeface="Calibri" pitchFamily="34" charset="0"/>
                <a:ea typeface="Calibri" pitchFamily="34" charset="-122"/>
                <a:cs typeface="Calibri" pitchFamily="34" charset="-120"/>
              </a:rPr>
              <a:t>Smart Parking and EV Charger Monitoring  ·  Harish Ramasamy  ·  MSc Cloud Computing, NCI  ·  2026</a:t>
            </a:r>
            <a:endParaRPr lang="en-US" sz="750" dirty="0"/>
          </a:p>
        </p:txBody>
      </p:sp>
      <p:sp>
        <p:nvSpPr>
          <p:cNvPr id="7" name="Shape 5"/>
          <p:cNvSpPr/>
          <p:nvPr/>
        </p:nvSpPr>
        <p:spPr>
          <a:xfrm>
            <a:off x="256032" y="886968"/>
            <a:ext cx="2057400" cy="347472"/>
          </a:xfrm>
          <a:prstGeom prst="rect">
            <a:avLst/>
          </a:prstGeom>
          <a:solidFill>
            <a:srgbClr val="1A2E42"/>
          </a:solidFill>
          <a:ln w="5080">
            <a:solidFill>
              <a:srgbClr val="D5D8DC"/>
            </a:solidFill>
            <a:prstDash val="solid"/>
          </a:ln>
        </p:spPr>
      </p:sp>
      <p:sp>
        <p:nvSpPr>
          <p:cNvPr id="8" name="Text 6"/>
          <p:cNvSpPr/>
          <p:nvPr/>
        </p:nvSpPr>
        <p:spPr>
          <a:xfrm>
            <a:off x="310896" y="886968"/>
            <a:ext cx="1947672"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Sensor</a:t>
            </a:r>
            <a:endParaRPr lang="en-US" sz="900" dirty="0"/>
          </a:p>
        </p:txBody>
      </p:sp>
      <p:sp>
        <p:nvSpPr>
          <p:cNvPr id="9" name="Shape 7"/>
          <p:cNvSpPr/>
          <p:nvPr/>
        </p:nvSpPr>
        <p:spPr>
          <a:xfrm>
            <a:off x="2313432" y="886968"/>
            <a:ext cx="3200400" cy="347472"/>
          </a:xfrm>
          <a:prstGeom prst="rect">
            <a:avLst/>
          </a:prstGeom>
          <a:solidFill>
            <a:srgbClr val="1A2E42"/>
          </a:solidFill>
          <a:ln w="5080">
            <a:solidFill>
              <a:srgbClr val="D5D8DC"/>
            </a:solidFill>
            <a:prstDash val="solid"/>
          </a:ln>
        </p:spPr>
      </p:sp>
      <p:sp>
        <p:nvSpPr>
          <p:cNvPr id="10" name="Text 8"/>
          <p:cNvSpPr/>
          <p:nvPr/>
        </p:nvSpPr>
        <p:spPr>
          <a:xfrm>
            <a:off x="2368296" y="886968"/>
            <a:ext cx="3090672"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Key Data Fields</a:t>
            </a:r>
            <a:endParaRPr lang="en-US" sz="900" dirty="0"/>
          </a:p>
        </p:txBody>
      </p:sp>
      <p:sp>
        <p:nvSpPr>
          <p:cNvPr id="11" name="Shape 9"/>
          <p:cNvSpPr/>
          <p:nvPr/>
        </p:nvSpPr>
        <p:spPr>
          <a:xfrm>
            <a:off x="5513832" y="886968"/>
            <a:ext cx="804672" cy="347472"/>
          </a:xfrm>
          <a:prstGeom prst="rect">
            <a:avLst/>
          </a:prstGeom>
          <a:solidFill>
            <a:srgbClr val="1A2E42"/>
          </a:solidFill>
          <a:ln w="5080">
            <a:solidFill>
              <a:srgbClr val="D5D8DC"/>
            </a:solidFill>
            <a:prstDash val="solid"/>
          </a:ln>
        </p:spPr>
      </p:sp>
      <p:sp>
        <p:nvSpPr>
          <p:cNvPr id="12" name="Text 10"/>
          <p:cNvSpPr/>
          <p:nvPr/>
        </p:nvSpPr>
        <p:spPr>
          <a:xfrm>
            <a:off x="5568696" y="886968"/>
            <a:ext cx="694944"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Rate</a:t>
            </a:r>
            <a:endParaRPr lang="en-US" sz="900" dirty="0"/>
          </a:p>
        </p:txBody>
      </p:sp>
      <p:sp>
        <p:nvSpPr>
          <p:cNvPr id="13" name="Shape 11"/>
          <p:cNvSpPr/>
          <p:nvPr/>
        </p:nvSpPr>
        <p:spPr>
          <a:xfrm>
            <a:off x="6318504" y="886968"/>
            <a:ext cx="1828800" cy="347472"/>
          </a:xfrm>
          <a:prstGeom prst="rect">
            <a:avLst/>
          </a:prstGeom>
          <a:solidFill>
            <a:srgbClr val="1A2E42"/>
          </a:solidFill>
          <a:ln w="5080">
            <a:solidFill>
              <a:srgbClr val="D5D8DC"/>
            </a:solidFill>
            <a:prstDash val="solid"/>
          </a:ln>
        </p:spPr>
      </p:sp>
      <p:sp>
        <p:nvSpPr>
          <p:cNvPr id="14" name="Text 12"/>
          <p:cNvSpPr/>
          <p:nvPr/>
        </p:nvSpPr>
        <p:spPr>
          <a:xfrm>
            <a:off x="6373368" y="886968"/>
            <a:ext cx="1719072" cy="34747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Alert Condition</a:t>
            </a:r>
            <a:endParaRPr lang="en-US" sz="900" dirty="0"/>
          </a:p>
        </p:txBody>
      </p:sp>
      <p:sp>
        <p:nvSpPr>
          <p:cNvPr id="15" name="Shape 13"/>
          <p:cNvSpPr/>
          <p:nvPr/>
        </p:nvSpPr>
        <p:spPr>
          <a:xfrm>
            <a:off x="256032" y="1234440"/>
            <a:ext cx="2057400" cy="347472"/>
          </a:xfrm>
          <a:prstGeom prst="rect">
            <a:avLst/>
          </a:prstGeom>
          <a:solidFill>
            <a:srgbClr val="F4F7FB"/>
          </a:solidFill>
          <a:ln w="5080">
            <a:solidFill>
              <a:srgbClr val="D5D8DC"/>
            </a:solidFill>
            <a:prstDash val="solid"/>
          </a:ln>
        </p:spPr>
      </p:sp>
      <p:sp>
        <p:nvSpPr>
          <p:cNvPr id="16" name="Text 14"/>
          <p:cNvSpPr/>
          <p:nvPr/>
        </p:nvSpPr>
        <p:spPr>
          <a:xfrm>
            <a:off x="310896" y="1234440"/>
            <a:ext cx="1947672" cy="347472"/>
          </a:xfrm>
          <a:prstGeom prst="rect">
            <a:avLst/>
          </a:prstGeom>
          <a:noFill/>
          <a:ln/>
        </p:spPr>
        <p:txBody>
          <a:bodyPr wrap="square" rtlCol="0" anchor="ctr"/>
          <a:lstStyle/>
          <a:p>
            <a:pPr indent="0" marL="0">
              <a:buNone/>
            </a:pPr>
            <a:r>
              <a:rPr lang="en-US" sz="850" b="1" dirty="0">
                <a:solidFill>
                  <a:srgbClr val="1A2E42"/>
                </a:solidFill>
                <a:latin typeface="Calibri" pitchFamily="34" charset="0"/>
                <a:ea typeface="Calibri" pitchFamily="34" charset="-122"/>
                <a:cs typeface="Calibri" pitchFamily="34" charset="-120"/>
              </a:rPr>
              <a:t>Parking Occupancy</a:t>
            </a:r>
            <a:endParaRPr lang="en-US" sz="850" dirty="0"/>
          </a:p>
        </p:txBody>
      </p:sp>
      <p:sp>
        <p:nvSpPr>
          <p:cNvPr id="17" name="Shape 15"/>
          <p:cNvSpPr/>
          <p:nvPr/>
        </p:nvSpPr>
        <p:spPr>
          <a:xfrm>
            <a:off x="2313432" y="1234440"/>
            <a:ext cx="3200400" cy="347472"/>
          </a:xfrm>
          <a:prstGeom prst="rect">
            <a:avLst/>
          </a:prstGeom>
          <a:solidFill>
            <a:srgbClr val="F4F7FB"/>
          </a:solidFill>
          <a:ln w="5080">
            <a:solidFill>
              <a:srgbClr val="D5D8DC"/>
            </a:solidFill>
            <a:prstDash val="solid"/>
          </a:ln>
        </p:spPr>
      </p:sp>
      <p:sp>
        <p:nvSpPr>
          <p:cNvPr id="18" name="Text 16"/>
          <p:cNvSpPr/>
          <p:nvPr/>
        </p:nvSpPr>
        <p:spPr>
          <a:xfrm>
            <a:off x="2368296" y="1234440"/>
            <a:ext cx="3090672"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occupied, available, pct_full</a:t>
            </a:r>
            <a:endParaRPr lang="en-US" sz="850" dirty="0"/>
          </a:p>
        </p:txBody>
      </p:sp>
      <p:sp>
        <p:nvSpPr>
          <p:cNvPr id="19" name="Shape 17"/>
          <p:cNvSpPr/>
          <p:nvPr/>
        </p:nvSpPr>
        <p:spPr>
          <a:xfrm>
            <a:off x="5513832" y="1234440"/>
            <a:ext cx="804672" cy="347472"/>
          </a:xfrm>
          <a:prstGeom prst="rect">
            <a:avLst/>
          </a:prstGeom>
          <a:solidFill>
            <a:srgbClr val="F4F7FB"/>
          </a:solidFill>
          <a:ln w="5080">
            <a:solidFill>
              <a:srgbClr val="D5D8DC"/>
            </a:solidFill>
            <a:prstDash val="solid"/>
          </a:ln>
        </p:spPr>
      </p:sp>
      <p:sp>
        <p:nvSpPr>
          <p:cNvPr id="20" name="Text 18"/>
          <p:cNvSpPr/>
          <p:nvPr/>
        </p:nvSpPr>
        <p:spPr>
          <a:xfrm>
            <a:off x="5568696" y="1234440"/>
            <a:ext cx="694944"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5 s</a:t>
            </a:r>
            <a:endParaRPr lang="en-US" sz="850" dirty="0"/>
          </a:p>
        </p:txBody>
      </p:sp>
      <p:sp>
        <p:nvSpPr>
          <p:cNvPr id="21" name="Shape 19"/>
          <p:cNvSpPr/>
          <p:nvPr/>
        </p:nvSpPr>
        <p:spPr>
          <a:xfrm>
            <a:off x="6318504" y="1234440"/>
            <a:ext cx="1828800" cy="347472"/>
          </a:xfrm>
          <a:prstGeom prst="rect">
            <a:avLst/>
          </a:prstGeom>
          <a:solidFill>
            <a:srgbClr val="FFF3E0"/>
          </a:solidFill>
          <a:ln w="5080">
            <a:solidFill>
              <a:srgbClr val="D5D8DC"/>
            </a:solidFill>
            <a:prstDash val="solid"/>
          </a:ln>
        </p:spPr>
      </p:sp>
      <p:sp>
        <p:nvSpPr>
          <p:cNvPr id="22" name="Text 20"/>
          <p:cNvSpPr/>
          <p:nvPr/>
        </p:nvSpPr>
        <p:spPr>
          <a:xfrm>
            <a:off x="6373368" y="1234440"/>
            <a:ext cx="1719072" cy="347472"/>
          </a:xfrm>
          <a:prstGeom prst="rect">
            <a:avLst/>
          </a:prstGeom>
          <a:noFill/>
          <a:ln/>
        </p:spPr>
        <p:txBody>
          <a:bodyPr wrap="square" rtlCol="0" anchor="ctr"/>
          <a:lstStyle/>
          <a:p>
            <a:pPr indent="0" marL="0">
              <a:buNone/>
            </a:pPr>
            <a:r>
              <a:rPr lang="en-US" sz="850" dirty="0">
                <a:solidFill>
                  <a:srgbClr val="E65100"/>
                </a:solidFill>
                <a:latin typeface="Calibri" pitchFamily="34" charset="0"/>
                <a:ea typeface="Calibri" pitchFamily="34" charset="-122"/>
                <a:cs typeface="Calibri" pitchFamily="34" charset="-120"/>
              </a:rPr>
              <a:t>&gt; 90% full</a:t>
            </a:r>
            <a:endParaRPr lang="en-US" sz="850" dirty="0"/>
          </a:p>
        </p:txBody>
      </p:sp>
      <p:sp>
        <p:nvSpPr>
          <p:cNvPr id="23" name="Shape 21"/>
          <p:cNvSpPr/>
          <p:nvPr/>
        </p:nvSpPr>
        <p:spPr>
          <a:xfrm>
            <a:off x="256032" y="1581912"/>
            <a:ext cx="2057400" cy="347472"/>
          </a:xfrm>
          <a:prstGeom prst="rect">
            <a:avLst/>
          </a:prstGeom>
          <a:solidFill>
            <a:srgbClr val="FFFFFF"/>
          </a:solidFill>
          <a:ln w="5080">
            <a:solidFill>
              <a:srgbClr val="D5D8DC"/>
            </a:solidFill>
            <a:prstDash val="solid"/>
          </a:ln>
        </p:spPr>
      </p:sp>
      <p:sp>
        <p:nvSpPr>
          <p:cNvPr id="24" name="Text 22"/>
          <p:cNvSpPr/>
          <p:nvPr/>
        </p:nvSpPr>
        <p:spPr>
          <a:xfrm>
            <a:off x="310896" y="1581912"/>
            <a:ext cx="1947672" cy="347472"/>
          </a:xfrm>
          <a:prstGeom prst="rect">
            <a:avLst/>
          </a:prstGeom>
          <a:noFill/>
          <a:ln/>
        </p:spPr>
        <p:txBody>
          <a:bodyPr wrap="square" rtlCol="0" anchor="ctr"/>
          <a:lstStyle/>
          <a:p>
            <a:pPr indent="0" marL="0">
              <a:buNone/>
            </a:pPr>
            <a:r>
              <a:rPr lang="en-US" sz="850" b="1" dirty="0">
                <a:solidFill>
                  <a:srgbClr val="1A2E42"/>
                </a:solidFill>
                <a:latin typeface="Calibri" pitchFamily="34" charset="0"/>
                <a:ea typeface="Calibri" pitchFamily="34" charset="-122"/>
                <a:cs typeface="Calibri" pitchFamily="34" charset="-120"/>
              </a:rPr>
              <a:t>EV Charger</a:t>
            </a:r>
            <a:endParaRPr lang="en-US" sz="850" dirty="0"/>
          </a:p>
        </p:txBody>
      </p:sp>
      <p:sp>
        <p:nvSpPr>
          <p:cNvPr id="25" name="Shape 23"/>
          <p:cNvSpPr/>
          <p:nvPr/>
        </p:nvSpPr>
        <p:spPr>
          <a:xfrm>
            <a:off x="2313432" y="1581912"/>
            <a:ext cx="3200400" cy="347472"/>
          </a:xfrm>
          <a:prstGeom prst="rect">
            <a:avLst/>
          </a:prstGeom>
          <a:solidFill>
            <a:srgbClr val="FFFFFF"/>
          </a:solidFill>
          <a:ln w="5080">
            <a:solidFill>
              <a:srgbClr val="D5D8DC"/>
            </a:solidFill>
            <a:prstDash val="solid"/>
          </a:ln>
        </p:spPr>
      </p:sp>
      <p:sp>
        <p:nvSpPr>
          <p:cNvPr id="26" name="Text 24"/>
          <p:cNvSpPr/>
          <p:nvPr/>
        </p:nvSpPr>
        <p:spPr>
          <a:xfrm>
            <a:off x="2368296" y="1581912"/>
            <a:ext cx="3090672"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status, power_kw, session_min</a:t>
            </a:r>
            <a:endParaRPr lang="en-US" sz="850" dirty="0"/>
          </a:p>
        </p:txBody>
      </p:sp>
      <p:sp>
        <p:nvSpPr>
          <p:cNvPr id="27" name="Shape 25"/>
          <p:cNvSpPr/>
          <p:nvPr/>
        </p:nvSpPr>
        <p:spPr>
          <a:xfrm>
            <a:off x="5513832" y="1581912"/>
            <a:ext cx="804672" cy="347472"/>
          </a:xfrm>
          <a:prstGeom prst="rect">
            <a:avLst/>
          </a:prstGeom>
          <a:solidFill>
            <a:srgbClr val="FFFFFF"/>
          </a:solidFill>
          <a:ln w="5080">
            <a:solidFill>
              <a:srgbClr val="D5D8DC"/>
            </a:solidFill>
            <a:prstDash val="solid"/>
          </a:ln>
        </p:spPr>
      </p:sp>
      <p:sp>
        <p:nvSpPr>
          <p:cNvPr id="28" name="Text 26"/>
          <p:cNvSpPr/>
          <p:nvPr/>
        </p:nvSpPr>
        <p:spPr>
          <a:xfrm>
            <a:off x="5568696" y="1581912"/>
            <a:ext cx="694944"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10 s</a:t>
            </a:r>
            <a:endParaRPr lang="en-US" sz="850" dirty="0"/>
          </a:p>
        </p:txBody>
      </p:sp>
      <p:sp>
        <p:nvSpPr>
          <p:cNvPr id="29" name="Shape 27"/>
          <p:cNvSpPr/>
          <p:nvPr/>
        </p:nvSpPr>
        <p:spPr>
          <a:xfrm>
            <a:off x="6318504" y="1581912"/>
            <a:ext cx="1828800" cy="347472"/>
          </a:xfrm>
          <a:prstGeom prst="rect">
            <a:avLst/>
          </a:prstGeom>
          <a:solidFill>
            <a:srgbClr val="FFF3E0"/>
          </a:solidFill>
          <a:ln w="5080">
            <a:solidFill>
              <a:srgbClr val="D5D8DC"/>
            </a:solidFill>
            <a:prstDash val="solid"/>
          </a:ln>
        </p:spPr>
      </p:sp>
      <p:sp>
        <p:nvSpPr>
          <p:cNvPr id="30" name="Text 28"/>
          <p:cNvSpPr/>
          <p:nvPr/>
        </p:nvSpPr>
        <p:spPr>
          <a:xfrm>
            <a:off x="6373368" y="1581912"/>
            <a:ext cx="1719072" cy="347472"/>
          </a:xfrm>
          <a:prstGeom prst="rect">
            <a:avLst/>
          </a:prstGeom>
          <a:noFill/>
          <a:ln/>
        </p:spPr>
        <p:txBody>
          <a:bodyPr wrap="square" rtlCol="0" anchor="ctr"/>
          <a:lstStyle/>
          <a:p>
            <a:pPr indent="0" marL="0">
              <a:buNone/>
            </a:pPr>
            <a:r>
              <a:rPr lang="en-US" sz="850" dirty="0">
                <a:solidFill>
                  <a:srgbClr val="E65100"/>
                </a:solidFill>
                <a:latin typeface="Calibri" pitchFamily="34" charset="0"/>
                <a:ea typeface="Calibri" pitchFamily="34" charset="-122"/>
                <a:cs typeface="Calibri" pitchFamily="34" charset="-120"/>
              </a:rPr>
              <a:t>FAULT status</a:t>
            </a:r>
            <a:endParaRPr lang="en-US" sz="850" dirty="0"/>
          </a:p>
        </p:txBody>
      </p:sp>
      <p:sp>
        <p:nvSpPr>
          <p:cNvPr id="31" name="Shape 29"/>
          <p:cNvSpPr/>
          <p:nvPr/>
        </p:nvSpPr>
        <p:spPr>
          <a:xfrm>
            <a:off x="256032" y="1929384"/>
            <a:ext cx="2057400" cy="347472"/>
          </a:xfrm>
          <a:prstGeom prst="rect">
            <a:avLst/>
          </a:prstGeom>
          <a:solidFill>
            <a:srgbClr val="F4F7FB"/>
          </a:solidFill>
          <a:ln w="5080">
            <a:solidFill>
              <a:srgbClr val="D5D8DC"/>
            </a:solidFill>
            <a:prstDash val="solid"/>
          </a:ln>
        </p:spPr>
      </p:sp>
      <p:sp>
        <p:nvSpPr>
          <p:cNvPr id="32" name="Text 30"/>
          <p:cNvSpPr/>
          <p:nvPr/>
        </p:nvSpPr>
        <p:spPr>
          <a:xfrm>
            <a:off x="310896" y="1929384"/>
            <a:ext cx="1947672" cy="347472"/>
          </a:xfrm>
          <a:prstGeom prst="rect">
            <a:avLst/>
          </a:prstGeom>
          <a:noFill/>
          <a:ln/>
        </p:spPr>
        <p:txBody>
          <a:bodyPr wrap="square" rtlCol="0" anchor="ctr"/>
          <a:lstStyle/>
          <a:p>
            <a:pPr indent="0" marL="0">
              <a:buNone/>
            </a:pPr>
            <a:r>
              <a:rPr lang="en-US" sz="850" b="1" dirty="0">
                <a:solidFill>
                  <a:srgbClr val="1A2E42"/>
                </a:solidFill>
                <a:latin typeface="Calibri" pitchFamily="34" charset="0"/>
                <a:ea typeface="Calibri" pitchFamily="34" charset="-122"/>
                <a:cs typeface="Calibri" pitchFamily="34" charset="-120"/>
              </a:rPr>
              <a:t>Temperature</a:t>
            </a:r>
            <a:endParaRPr lang="en-US" sz="850" dirty="0"/>
          </a:p>
        </p:txBody>
      </p:sp>
      <p:sp>
        <p:nvSpPr>
          <p:cNvPr id="33" name="Shape 31"/>
          <p:cNvSpPr/>
          <p:nvPr/>
        </p:nvSpPr>
        <p:spPr>
          <a:xfrm>
            <a:off x="2313432" y="1929384"/>
            <a:ext cx="3200400" cy="347472"/>
          </a:xfrm>
          <a:prstGeom prst="rect">
            <a:avLst/>
          </a:prstGeom>
          <a:solidFill>
            <a:srgbClr val="F4F7FB"/>
          </a:solidFill>
          <a:ln w="5080">
            <a:solidFill>
              <a:srgbClr val="D5D8DC"/>
            </a:solidFill>
            <a:prstDash val="solid"/>
          </a:ln>
        </p:spPr>
      </p:sp>
      <p:sp>
        <p:nvSpPr>
          <p:cNvPr id="34" name="Text 32"/>
          <p:cNvSpPr/>
          <p:nvPr/>
        </p:nvSpPr>
        <p:spPr>
          <a:xfrm>
            <a:off x="2368296" y="1929384"/>
            <a:ext cx="3090672"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temp_c, humidity_pct</a:t>
            </a:r>
            <a:endParaRPr lang="en-US" sz="850" dirty="0"/>
          </a:p>
        </p:txBody>
      </p:sp>
      <p:sp>
        <p:nvSpPr>
          <p:cNvPr id="35" name="Shape 33"/>
          <p:cNvSpPr/>
          <p:nvPr/>
        </p:nvSpPr>
        <p:spPr>
          <a:xfrm>
            <a:off x="5513832" y="1929384"/>
            <a:ext cx="804672" cy="347472"/>
          </a:xfrm>
          <a:prstGeom prst="rect">
            <a:avLst/>
          </a:prstGeom>
          <a:solidFill>
            <a:srgbClr val="F4F7FB"/>
          </a:solidFill>
          <a:ln w="5080">
            <a:solidFill>
              <a:srgbClr val="D5D8DC"/>
            </a:solidFill>
            <a:prstDash val="solid"/>
          </a:ln>
        </p:spPr>
      </p:sp>
      <p:sp>
        <p:nvSpPr>
          <p:cNvPr id="36" name="Text 34"/>
          <p:cNvSpPr/>
          <p:nvPr/>
        </p:nvSpPr>
        <p:spPr>
          <a:xfrm>
            <a:off x="5568696" y="1929384"/>
            <a:ext cx="694944"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8 s</a:t>
            </a:r>
            <a:endParaRPr lang="en-US" sz="850" dirty="0"/>
          </a:p>
        </p:txBody>
      </p:sp>
      <p:sp>
        <p:nvSpPr>
          <p:cNvPr id="37" name="Shape 35"/>
          <p:cNvSpPr/>
          <p:nvPr/>
        </p:nvSpPr>
        <p:spPr>
          <a:xfrm>
            <a:off x="6318504" y="1929384"/>
            <a:ext cx="1828800" cy="347472"/>
          </a:xfrm>
          <a:prstGeom prst="rect">
            <a:avLst/>
          </a:prstGeom>
          <a:solidFill>
            <a:srgbClr val="FFF3E0"/>
          </a:solidFill>
          <a:ln w="5080">
            <a:solidFill>
              <a:srgbClr val="D5D8DC"/>
            </a:solidFill>
            <a:prstDash val="solid"/>
          </a:ln>
        </p:spPr>
      </p:sp>
      <p:sp>
        <p:nvSpPr>
          <p:cNvPr id="38" name="Text 36"/>
          <p:cNvSpPr/>
          <p:nvPr/>
        </p:nvSpPr>
        <p:spPr>
          <a:xfrm>
            <a:off x="6373368" y="1929384"/>
            <a:ext cx="1719072" cy="347472"/>
          </a:xfrm>
          <a:prstGeom prst="rect">
            <a:avLst/>
          </a:prstGeom>
          <a:noFill/>
          <a:ln/>
        </p:spPr>
        <p:txBody>
          <a:bodyPr wrap="square" rtlCol="0" anchor="ctr"/>
          <a:lstStyle/>
          <a:p>
            <a:pPr indent="0" marL="0">
              <a:buNone/>
            </a:pPr>
            <a:r>
              <a:rPr lang="en-US" sz="850" dirty="0">
                <a:solidFill>
                  <a:srgbClr val="E65100"/>
                </a:solidFill>
                <a:latin typeface="Calibri" pitchFamily="34" charset="0"/>
                <a:ea typeface="Calibri" pitchFamily="34" charset="-122"/>
                <a:cs typeface="Calibri" pitchFamily="34" charset="-120"/>
              </a:rPr>
              <a:t>&gt; 45°C</a:t>
            </a:r>
            <a:endParaRPr lang="en-US" sz="850" dirty="0"/>
          </a:p>
        </p:txBody>
      </p:sp>
      <p:sp>
        <p:nvSpPr>
          <p:cNvPr id="39" name="Shape 37"/>
          <p:cNvSpPr/>
          <p:nvPr/>
        </p:nvSpPr>
        <p:spPr>
          <a:xfrm>
            <a:off x="256032" y="2276856"/>
            <a:ext cx="2057400" cy="347472"/>
          </a:xfrm>
          <a:prstGeom prst="rect">
            <a:avLst/>
          </a:prstGeom>
          <a:solidFill>
            <a:srgbClr val="FFFFFF"/>
          </a:solidFill>
          <a:ln w="5080">
            <a:solidFill>
              <a:srgbClr val="D5D8DC"/>
            </a:solidFill>
            <a:prstDash val="solid"/>
          </a:ln>
        </p:spPr>
      </p:sp>
      <p:sp>
        <p:nvSpPr>
          <p:cNvPr id="40" name="Text 38"/>
          <p:cNvSpPr/>
          <p:nvPr/>
        </p:nvSpPr>
        <p:spPr>
          <a:xfrm>
            <a:off x="310896" y="2276856"/>
            <a:ext cx="1947672" cy="347472"/>
          </a:xfrm>
          <a:prstGeom prst="rect">
            <a:avLst/>
          </a:prstGeom>
          <a:noFill/>
          <a:ln/>
        </p:spPr>
        <p:txBody>
          <a:bodyPr wrap="square" rtlCol="0" anchor="ctr"/>
          <a:lstStyle/>
          <a:p>
            <a:pPr indent="0" marL="0">
              <a:buNone/>
            </a:pPr>
            <a:r>
              <a:rPr lang="en-US" sz="850" b="1" dirty="0">
                <a:solidFill>
                  <a:srgbClr val="1A2E42"/>
                </a:solidFill>
                <a:latin typeface="Calibri" pitchFamily="34" charset="0"/>
                <a:ea typeface="Calibri" pitchFamily="34" charset="-122"/>
                <a:cs typeface="Calibri" pitchFamily="34" charset="-120"/>
              </a:rPr>
              <a:t>Air Quality</a:t>
            </a:r>
            <a:endParaRPr lang="en-US" sz="850" dirty="0"/>
          </a:p>
        </p:txBody>
      </p:sp>
      <p:sp>
        <p:nvSpPr>
          <p:cNvPr id="41" name="Shape 39"/>
          <p:cNvSpPr/>
          <p:nvPr/>
        </p:nvSpPr>
        <p:spPr>
          <a:xfrm>
            <a:off x="2313432" y="2276856"/>
            <a:ext cx="3200400" cy="347472"/>
          </a:xfrm>
          <a:prstGeom prst="rect">
            <a:avLst/>
          </a:prstGeom>
          <a:solidFill>
            <a:srgbClr val="FFFFFF"/>
          </a:solidFill>
          <a:ln w="5080">
            <a:solidFill>
              <a:srgbClr val="D5D8DC"/>
            </a:solidFill>
            <a:prstDash val="solid"/>
          </a:ln>
        </p:spPr>
      </p:sp>
      <p:sp>
        <p:nvSpPr>
          <p:cNvPr id="42" name="Text 40"/>
          <p:cNvSpPr/>
          <p:nvPr/>
        </p:nvSpPr>
        <p:spPr>
          <a:xfrm>
            <a:off x="2368296" y="2276856"/>
            <a:ext cx="3090672"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co2_ppm, pm25, aqi_score</a:t>
            </a:r>
            <a:endParaRPr lang="en-US" sz="850" dirty="0"/>
          </a:p>
        </p:txBody>
      </p:sp>
      <p:sp>
        <p:nvSpPr>
          <p:cNvPr id="43" name="Shape 41"/>
          <p:cNvSpPr/>
          <p:nvPr/>
        </p:nvSpPr>
        <p:spPr>
          <a:xfrm>
            <a:off x="5513832" y="2276856"/>
            <a:ext cx="804672" cy="347472"/>
          </a:xfrm>
          <a:prstGeom prst="rect">
            <a:avLst/>
          </a:prstGeom>
          <a:solidFill>
            <a:srgbClr val="FFFFFF"/>
          </a:solidFill>
          <a:ln w="5080">
            <a:solidFill>
              <a:srgbClr val="D5D8DC"/>
            </a:solidFill>
            <a:prstDash val="solid"/>
          </a:ln>
        </p:spPr>
      </p:sp>
      <p:sp>
        <p:nvSpPr>
          <p:cNvPr id="44" name="Text 42"/>
          <p:cNvSpPr/>
          <p:nvPr/>
        </p:nvSpPr>
        <p:spPr>
          <a:xfrm>
            <a:off x="5568696" y="2276856"/>
            <a:ext cx="694944"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15 s</a:t>
            </a:r>
            <a:endParaRPr lang="en-US" sz="850" dirty="0"/>
          </a:p>
        </p:txBody>
      </p:sp>
      <p:sp>
        <p:nvSpPr>
          <p:cNvPr id="45" name="Shape 43"/>
          <p:cNvSpPr/>
          <p:nvPr/>
        </p:nvSpPr>
        <p:spPr>
          <a:xfrm>
            <a:off x="6318504" y="2276856"/>
            <a:ext cx="1828800" cy="347472"/>
          </a:xfrm>
          <a:prstGeom prst="rect">
            <a:avLst/>
          </a:prstGeom>
          <a:solidFill>
            <a:srgbClr val="FFF3E0"/>
          </a:solidFill>
          <a:ln w="5080">
            <a:solidFill>
              <a:srgbClr val="D5D8DC"/>
            </a:solidFill>
            <a:prstDash val="solid"/>
          </a:ln>
        </p:spPr>
      </p:sp>
      <p:sp>
        <p:nvSpPr>
          <p:cNvPr id="46" name="Text 44"/>
          <p:cNvSpPr/>
          <p:nvPr/>
        </p:nvSpPr>
        <p:spPr>
          <a:xfrm>
            <a:off x="6373368" y="2276856"/>
            <a:ext cx="1719072" cy="347472"/>
          </a:xfrm>
          <a:prstGeom prst="rect">
            <a:avLst/>
          </a:prstGeom>
          <a:noFill/>
          <a:ln/>
        </p:spPr>
        <p:txBody>
          <a:bodyPr wrap="square" rtlCol="0" anchor="ctr"/>
          <a:lstStyle/>
          <a:p>
            <a:pPr indent="0" marL="0">
              <a:buNone/>
            </a:pPr>
            <a:r>
              <a:rPr lang="en-US" sz="850" dirty="0">
                <a:solidFill>
                  <a:srgbClr val="E65100"/>
                </a:solidFill>
                <a:latin typeface="Calibri" pitchFamily="34" charset="0"/>
                <a:ea typeface="Calibri" pitchFamily="34" charset="-122"/>
                <a:cs typeface="Calibri" pitchFamily="34" charset="-120"/>
              </a:rPr>
              <a:t>AQI &gt; 150</a:t>
            </a:r>
            <a:endParaRPr lang="en-US" sz="850" dirty="0"/>
          </a:p>
        </p:txBody>
      </p:sp>
      <p:sp>
        <p:nvSpPr>
          <p:cNvPr id="47" name="Shape 45"/>
          <p:cNvSpPr/>
          <p:nvPr/>
        </p:nvSpPr>
        <p:spPr>
          <a:xfrm>
            <a:off x="256032" y="2624328"/>
            <a:ext cx="2057400" cy="347472"/>
          </a:xfrm>
          <a:prstGeom prst="rect">
            <a:avLst/>
          </a:prstGeom>
          <a:solidFill>
            <a:srgbClr val="F4F7FB"/>
          </a:solidFill>
          <a:ln w="5080">
            <a:solidFill>
              <a:srgbClr val="D5D8DC"/>
            </a:solidFill>
            <a:prstDash val="solid"/>
          </a:ln>
        </p:spPr>
      </p:sp>
      <p:sp>
        <p:nvSpPr>
          <p:cNvPr id="48" name="Text 46"/>
          <p:cNvSpPr/>
          <p:nvPr/>
        </p:nvSpPr>
        <p:spPr>
          <a:xfrm>
            <a:off x="310896" y="2624328"/>
            <a:ext cx="1947672" cy="347472"/>
          </a:xfrm>
          <a:prstGeom prst="rect">
            <a:avLst/>
          </a:prstGeom>
          <a:noFill/>
          <a:ln/>
        </p:spPr>
        <p:txBody>
          <a:bodyPr wrap="square" rtlCol="0" anchor="ctr"/>
          <a:lstStyle/>
          <a:p>
            <a:pPr indent="0" marL="0">
              <a:buNone/>
            </a:pPr>
            <a:r>
              <a:rPr lang="en-US" sz="850" b="1" dirty="0">
                <a:solidFill>
                  <a:srgbClr val="1A2E42"/>
                </a:solidFill>
                <a:latin typeface="Calibri" pitchFamily="34" charset="0"/>
                <a:ea typeface="Calibri" pitchFamily="34" charset="-122"/>
                <a:cs typeface="Calibri" pitchFamily="34" charset="-120"/>
              </a:rPr>
              <a:t>Vehicle Counter</a:t>
            </a:r>
            <a:endParaRPr lang="en-US" sz="850" dirty="0"/>
          </a:p>
        </p:txBody>
      </p:sp>
      <p:sp>
        <p:nvSpPr>
          <p:cNvPr id="49" name="Shape 47"/>
          <p:cNvSpPr/>
          <p:nvPr/>
        </p:nvSpPr>
        <p:spPr>
          <a:xfrm>
            <a:off x="2313432" y="2624328"/>
            <a:ext cx="3200400" cy="347472"/>
          </a:xfrm>
          <a:prstGeom prst="rect">
            <a:avLst/>
          </a:prstGeom>
          <a:solidFill>
            <a:srgbClr val="F4F7FB"/>
          </a:solidFill>
          <a:ln w="5080">
            <a:solidFill>
              <a:srgbClr val="D5D8DC"/>
            </a:solidFill>
            <a:prstDash val="solid"/>
          </a:ln>
        </p:spPr>
      </p:sp>
      <p:sp>
        <p:nvSpPr>
          <p:cNvPr id="50" name="Text 48"/>
          <p:cNvSpPr/>
          <p:nvPr/>
        </p:nvSpPr>
        <p:spPr>
          <a:xfrm>
            <a:off x="2368296" y="2624328"/>
            <a:ext cx="3090672"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entries, exits, net_flow</a:t>
            </a:r>
            <a:endParaRPr lang="en-US" sz="850" dirty="0"/>
          </a:p>
        </p:txBody>
      </p:sp>
      <p:sp>
        <p:nvSpPr>
          <p:cNvPr id="51" name="Shape 49"/>
          <p:cNvSpPr/>
          <p:nvPr/>
        </p:nvSpPr>
        <p:spPr>
          <a:xfrm>
            <a:off x="5513832" y="2624328"/>
            <a:ext cx="804672" cy="347472"/>
          </a:xfrm>
          <a:prstGeom prst="rect">
            <a:avLst/>
          </a:prstGeom>
          <a:solidFill>
            <a:srgbClr val="F4F7FB"/>
          </a:solidFill>
          <a:ln w="5080">
            <a:solidFill>
              <a:srgbClr val="D5D8DC"/>
            </a:solidFill>
            <a:prstDash val="solid"/>
          </a:ln>
        </p:spPr>
      </p:sp>
      <p:sp>
        <p:nvSpPr>
          <p:cNvPr id="52" name="Text 50"/>
          <p:cNvSpPr/>
          <p:nvPr/>
        </p:nvSpPr>
        <p:spPr>
          <a:xfrm>
            <a:off x="5568696" y="2624328"/>
            <a:ext cx="694944" cy="347472"/>
          </a:xfrm>
          <a:prstGeom prst="rect">
            <a:avLst/>
          </a:prstGeom>
          <a:noFill/>
          <a:ln/>
        </p:spPr>
        <p:txBody>
          <a:bodyPr wrap="square" rtlCol="0" anchor="ctr"/>
          <a:lstStyle/>
          <a:p>
            <a:pPr indent="0" marL="0">
              <a:buNone/>
            </a:pPr>
            <a:r>
              <a:rPr lang="en-US" sz="850" dirty="0">
                <a:solidFill>
                  <a:srgbClr val="1A2E42"/>
                </a:solidFill>
                <a:latin typeface="Calibri" pitchFamily="34" charset="0"/>
                <a:ea typeface="Calibri" pitchFamily="34" charset="-122"/>
                <a:cs typeface="Calibri" pitchFamily="34" charset="-120"/>
              </a:rPr>
              <a:t>3 s</a:t>
            </a:r>
            <a:endParaRPr lang="en-US" sz="850" dirty="0"/>
          </a:p>
        </p:txBody>
      </p:sp>
      <p:sp>
        <p:nvSpPr>
          <p:cNvPr id="53" name="Shape 51"/>
          <p:cNvSpPr/>
          <p:nvPr/>
        </p:nvSpPr>
        <p:spPr>
          <a:xfrm>
            <a:off x="6318504" y="2624328"/>
            <a:ext cx="1828800" cy="347472"/>
          </a:xfrm>
          <a:prstGeom prst="rect">
            <a:avLst/>
          </a:prstGeom>
          <a:solidFill>
            <a:srgbClr val="FFF3E0"/>
          </a:solidFill>
          <a:ln w="5080">
            <a:solidFill>
              <a:srgbClr val="D5D8DC"/>
            </a:solidFill>
            <a:prstDash val="solid"/>
          </a:ln>
        </p:spPr>
      </p:sp>
      <p:sp>
        <p:nvSpPr>
          <p:cNvPr id="54" name="Text 52"/>
          <p:cNvSpPr/>
          <p:nvPr/>
        </p:nvSpPr>
        <p:spPr>
          <a:xfrm>
            <a:off x="6373368" y="2624328"/>
            <a:ext cx="1719072" cy="347472"/>
          </a:xfrm>
          <a:prstGeom prst="rect">
            <a:avLst/>
          </a:prstGeom>
          <a:noFill/>
          <a:ln/>
        </p:spPr>
        <p:txBody>
          <a:bodyPr wrap="square" rtlCol="0" anchor="ctr"/>
          <a:lstStyle/>
          <a:p>
            <a:pPr indent="0" marL="0">
              <a:buNone/>
            </a:pPr>
            <a:r>
              <a:rPr lang="en-US" sz="850" dirty="0">
                <a:solidFill>
                  <a:srgbClr val="E65100"/>
                </a:solidFill>
                <a:latin typeface="Calibri" pitchFamily="34" charset="0"/>
                <a:ea typeface="Calibri" pitchFamily="34" charset="-122"/>
                <a:cs typeface="Calibri" pitchFamily="34" charset="-120"/>
              </a:rPr>
              <a:t>flow &gt; 10</a:t>
            </a:r>
            <a:endParaRPr lang="en-US" sz="850" dirty="0"/>
          </a:p>
        </p:txBody>
      </p:sp>
      <p:sp>
        <p:nvSpPr>
          <p:cNvPr id="55" name="Shape 53"/>
          <p:cNvSpPr/>
          <p:nvPr/>
        </p:nvSpPr>
        <p:spPr>
          <a:xfrm>
            <a:off x="256032" y="3017520"/>
            <a:ext cx="4023360" cy="173736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56" name="Shape 54"/>
          <p:cNvSpPr/>
          <p:nvPr/>
        </p:nvSpPr>
        <p:spPr>
          <a:xfrm>
            <a:off x="256032" y="3017520"/>
            <a:ext cx="4023360" cy="301752"/>
          </a:xfrm>
          <a:prstGeom prst="rect">
            <a:avLst/>
          </a:prstGeom>
          <a:solidFill>
            <a:srgbClr val="1A2E42"/>
          </a:solidFill>
          <a:ln w="12700">
            <a:solidFill>
              <a:srgbClr val="1A2E42"/>
            </a:solidFill>
            <a:prstDash val="solid"/>
          </a:ln>
        </p:spPr>
      </p:sp>
      <p:sp>
        <p:nvSpPr>
          <p:cNvPr id="57" name="Text 55"/>
          <p:cNvSpPr/>
          <p:nvPr/>
        </p:nvSpPr>
        <p:spPr>
          <a:xfrm>
            <a:off x="365760" y="3017520"/>
            <a:ext cx="3803904"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Fog Node — 6-Step Pipeline</a:t>
            </a:r>
            <a:endParaRPr lang="en-US" sz="1100" dirty="0"/>
          </a:p>
        </p:txBody>
      </p:sp>
      <p:sp>
        <p:nvSpPr>
          <p:cNvPr id="58" name="Text 56"/>
          <p:cNvSpPr/>
          <p:nvPr/>
        </p:nvSpPr>
        <p:spPr>
          <a:xfrm>
            <a:off x="402336" y="3401568"/>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1.  Receive payload via HTTP POST</a:t>
            </a:r>
            <a:endParaRPr lang="en-US" sz="950" dirty="0"/>
          </a:p>
        </p:txBody>
      </p:sp>
      <p:sp>
        <p:nvSpPr>
          <p:cNvPr id="59" name="Text 57"/>
          <p:cNvSpPr/>
          <p:nvPr/>
        </p:nvSpPr>
        <p:spPr>
          <a:xfrm>
            <a:off x="402336" y="3611880"/>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2.  Validate fields &amp; data types</a:t>
            </a:r>
            <a:endParaRPr lang="en-US" sz="950" dirty="0"/>
          </a:p>
        </p:txBody>
      </p:sp>
      <p:sp>
        <p:nvSpPr>
          <p:cNvPr id="60" name="Text 58"/>
          <p:cNvSpPr/>
          <p:nvPr/>
        </p:nvSpPr>
        <p:spPr>
          <a:xfrm>
            <a:off x="402336" y="3822192"/>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3.  Deduplicate via in-memory timestamp cache</a:t>
            </a:r>
            <a:endParaRPr lang="en-US" sz="950" dirty="0"/>
          </a:p>
        </p:txBody>
      </p:sp>
      <p:sp>
        <p:nvSpPr>
          <p:cNvPr id="61" name="Text 59"/>
          <p:cNvSpPr/>
          <p:nvPr/>
        </p:nvSpPr>
        <p:spPr>
          <a:xfrm>
            <a:off x="402336" y="4032504"/>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4.  Apply threshold rules → alert flags</a:t>
            </a:r>
            <a:endParaRPr lang="en-US" sz="950" dirty="0"/>
          </a:p>
        </p:txBody>
      </p:sp>
      <p:sp>
        <p:nvSpPr>
          <p:cNvPr id="62" name="Text 60"/>
          <p:cNvSpPr/>
          <p:nvPr/>
        </p:nvSpPr>
        <p:spPr>
          <a:xfrm>
            <a:off x="402336" y="4242816"/>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5.  Enrich with fog ID &amp; timestamp</a:t>
            </a:r>
            <a:endParaRPr lang="en-US" sz="950" dirty="0"/>
          </a:p>
        </p:txBody>
      </p:sp>
      <p:sp>
        <p:nvSpPr>
          <p:cNvPr id="63" name="Text 61"/>
          <p:cNvSpPr/>
          <p:nvPr/>
        </p:nvSpPr>
        <p:spPr>
          <a:xfrm>
            <a:off x="402336" y="4453128"/>
            <a:ext cx="3749040" cy="201168"/>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6.  Forward to API Gateway  (3× retry)</a:t>
            </a:r>
            <a:endParaRPr lang="en-US" sz="950" dirty="0"/>
          </a:p>
        </p:txBody>
      </p:sp>
      <p:sp>
        <p:nvSpPr>
          <p:cNvPr id="64" name="Shape 62"/>
          <p:cNvSpPr/>
          <p:nvPr/>
        </p:nvSpPr>
        <p:spPr>
          <a:xfrm>
            <a:off x="4526280" y="3017520"/>
            <a:ext cx="4361688" cy="1737360"/>
          </a:xfrm>
          <a:prstGeom prst="rect">
            <a:avLst/>
          </a:prstGeom>
          <a:solidFill>
            <a:srgbClr val="1A2E42"/>
          </a:solidFill>
          <a:ln w="12700">
            <a:solidFill>
              <a:srgbClr val="1A2E42"/>
            </a:solidFill>
            <a:prstDash val="solid"/>
          </a:ln>
          <a:effectLst>
            <a:outerShdw sx="100000" sy="100000" kx="0" ky="0" algn="bl" rotWithShape="0" blurRad="50800" dist="25400" dir="8100000">
              <a:srgbClr val="000000">
                <a:alpha val="10000"/>
              </a:srgbClr>
            </a:outerShdw>
          </a:effectLst>
        </p:spPr>
      </p:sp>
      <p:sp>
        <p:nvSpPr>
          <p:cNvPr id="65" name="Text 63"/>
          <p:cNvSpPr/>
          <p:nvPr/>
        </p:nvSpPr>
        <p:spPr>
          <a:xfrm>
            <a:off x="4645152" y="3044952"/>
            <a:ext cx="4114800" cy="237744"/>
          </a:xfrm>
          <a:prstGeom prst="rect">
            <a:avLst/>
          </a:prstGeom>
          <a:noFill/>
          <a:ln/>
        </p:spPr>
        <p:txBody>
          <a:bodyPr wrap="square" rtlCol="0" anchor="ctr"/>
          <a:lstStyle/>
          <a:p>
            <a:pPr indent="0" marL="0">
              <a:buNone/>
            </a:pPr>
            <a:r>
              <a:rPr lang="en-US" sz="850" b="1" dirty="0">
                <a:solidFill>
                  <a:srgbClr val="00838F"/>
                </a:solidFill>
                <a:latin typeface="Courier New" pitchFamily="34" charset="0"/>
                <a:ea typeface="Courier New" pitchFamily="34" charset="-122"/>
                <a:cs typeface="Courier New" pitchFamily="34" charset="-120"/>
              </a:rPr>
              <a:t>fog_node.py  —  /ingest endpoint</a:t>
            </a:r>
            <a:endParaRPr lang="en-US" sz="850" dirty="0"/>
          </a:p>
        </p:txBody>
      </p:sp>
      <p:sp>
        <p:nvSpPr>
          <p:cNvPr id="66" name="Text 64"/>
          <p:cNvSpPr/>
          <p:nvPr/>
        </p:nvSpPr>
        <p:spPr>
          <a:xfrm>
            <a:off x="4645152" y="3328416"/>
            <a:ext cx="4160520" cy="155448"/>
          </a:xfrm>
          <a:prstGeom prst="rect">
            <a:avLst/>
          </a:prstGeom>
          <a:noFill/>
          <a:ln/>
        </p:spPr>
        <p:txBody>
          <a:bodyPr wrap="square" rtlCol="0" anchor="ctr"/>
          <a:lstStyle/>
          <a:p>
            <a:pPr indent="0" marL="0">
              <a:buNone/>
            </a:pPr>
            <a:r>
              <a:rPr lang="en-US" sz="780" dirty="0">
                <a:solidFill>
                  <a:srgbClr val="00838F"/>
                </a:solidFill>
                <a:latin typeface="Courier New" pitchFamily="34" charset="0"/>
                <a:ea typeface="Courier New" pitchFamily="34" charset="-122"/>
                <a:cs typeface="Courier New" pitchFamily="34" charset="-120"/>
              </a:rPr>
              <a:t>@app.route('/ingest', methods=['POST'])</a:t>
            </a:r>
            <a:endParaRPr lang="en-US" sz="780" dirty="0"/>
          </a:p>
        </p:txBody>
      </p:sp>
      <p:sp>
        <p:nvSpPr>
          <p:cNvPr id="67" name="Text 65"/>
          <p:cNvSpPr/>
          <p:nvPr/>
        </p:nvSpPr>
        <p:spPr>
          <a:xfrm>
            <a:off x="4645152" y="3483864"/>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def ingest():</a:t>
            </a:r>
            <a:endParaRPr lang="en-US" sz="780" dirty="0"/>
          </a:p>
        </p:txBody>
      </p:sp>
      <p:sp>
        <p:nvSpPr>
          <p:cNvPr id="68" name="Text 66"/>
          <p:cNvSpPr/>
          <p:nvPr/>
        </p:nvSpPr>
        <p:spPr>
          <a:xfrm>
            <a:off x="4645152" y="3639312"/>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data = request.get_json()</a:t>
            </a:r>
            <a:endParaRPr lang="en-US" sz="780" dirty="0"/>
          </a:p>
        </p:txBody>
      </p:sp>
      <p:sp>
        <p:nvSpPr>
          <p:cNvPr id="69" name="Text 67"/>
          <p:cNvSpPr/>
          <p:nvPr/>
        </p:nvSpPr>
        <p:spPr>
          <a:xfrm>
            <a:off x="4645152" y="3794760"/>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if is_duplicate(data):</a:t>
            </a:r>
            <a:endParaRPr lang="en-US" sz="780" dirty="0"/>
          </a:p>
        </p:txBody>
      </p:sp>
      <p:sp>
        <p:nvSpPr>
          <p:cNvPr id="70" name="Text 68"/>
          <p:cNvSpPr/>
          <p:nvPr/>
        </p:nvSpPr>
        <p:spPr>
          <a:xfrm>
            <a:off x="4645152" y="3950208"/>
            <a:ext cx="4160520" cy="155448"/>
          </a:xfrm>
          <a:prstGeom prst="rect">
            <a:avLst/>
          </a:prstGeom>
          <a:noFill/>
          <a:ln/>
        </p:spPr>
        <p:txBody>
          <a:bodyPr wrap="square" rtlCol="0" anchor="ctr"/>
          <a:lstStyle/>
          <a:p>
            <a:pPr indent="0" marL="0">
              <a:buNone/>
            </a:pPr>
            <a:r>
              <a:rPr lang="en-US" sz="780" dirty="0">
                <a:solidFill>
                  <a:srgbClr val="E65100"/>
                </a:solidFill>
                <a:latin typeface="Courier New" pitchFamily="34" charset="0"/>
                <a:ea typeface="Courier New" pitchFamily="34" charset="-122"/>
                <a:cs typeface="Courier New" pitchFamily="34" charset="-120"/>
              </a:rPr>
              <a:t>        return 'dropped', 200</a:t>
            </a:r>
            <a:endParaRPr lang="en-US" sz="780" dirty="0"/>
          </a:p>
        </p:txBody>
      </p:sp>
      <p:sp>
        <p:nvSpPr>
          <p:cNvPr id="71" name="Text 69"/>
          <p:cNvSpPr/>
          <p:nvPr/>
        </p:nvSpPr>
        <p:spPr>
          <a:xfrm>
            <a:off x="4645152" y="4105656"/>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alert = check_threshold(data)</a:t>
            </a:r>
            <a:endParaRPr lang="en-US" sz="780" dirty="0"/>
          </a:p>
        </p:txBody>
      </p:sp>
      <p:sp>
        <p:nvSpPr>
          <p:cNvPr id="72" name="Text 70"/>
          <p:cNvSpPr/>
          <p:nvPr/>
        </p:nvSpPr>
        <p:spPr>
          <a:xfrm>
            <a:off x="4645152" y="4261104"/>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enriched = enrich(data, alert)</a:t>
            </a:r>
            <a:endParaRPr lang="en-US" sz="780" dirty="0"/>
          </a:p>
        </p:txBody>
      </p:sp>
      <p:sp>
        <p:nvSpPr>
          <p:cNvPr id="73" name="Text 71"/>
          <p:cNvSpPr/>
          <p:nvPr/>
        </p:nvSpPr>
        <p:spPr>
          <a:xfrm>
            <a:off x="4645152" y="4416552"/>
            <a:ext cx="4160520" cy="155448"/>
          </a:xfrm>
          <a:prstGeom prst="rect">
            <a:avLst/>
          </a:prstGeom>
          <a:noFill/>
          <a:ln/>
        </p:spPr>
        <p:txBody>
          <a:bodyPr wrap="square" rtlCol="0" anchor="ctr"/>
          <a:lstStyle/>
          <a:p>
            <a:pPr indent="0" marL="0">
              <a:buNone/>
            </a:pPr>
            <a:r>
              <a:rPr lang="en-US" sz="780" dirty="0">
                <a:solidFill>
                  <a:srgbClr val="FFFFFF"/>
                </a:solidFill>
                <a:latin typeface="Courier New" pitchFamily="34" charset="0"/>
                <a:ea typeface="Courier New" pitchFamily="34" charset="-122"/>
                <a:cs typeface="Courier New" pitchFamily="34" charset="-120"/>
              </a:rPr>
              <a:t>    forward_to_cloud(enriched)</a:t>
            </a:r>
            <a:endParaRPr lang="en-US" sz="780" dirty="0"/>
          </a:p>
        </p:txBody>
      </p:sp>
      <p:sp>
        <p:nvSpPr>
          <p:cNvPr id="74" name="Text 72"/>
          <p:cNvSpPr/>
          <p:nvPr/>
        </p:nvSpPr>
        <p:spPr>
          <a:xfrm>
            <a:off x="4645152" y="4572000"/>
            <a:ext cx="4160520" cy="155448"/>
          </a:xfrm>
          <a:prstGeom prst="rect">
            <a:avLst/>
          </a:prstGeom>
          <a:noFill/>
          <a:ln/>
        </p:spPr>
        <p:txBody>
          <a:bodyPr wrap="square" rtlCol="0" anchor="ctr"/>
          <a:lstStyle/>
          <a:p>
            <a:pPr indent="0" marL="0">
              <a:buNone/>
            </a:pPr>
            <a:r>
              <a:rPr lang="en-US" sz="780" dirty="0">
                <a:solidFill>
                  <a:srgbClr val="E65100"/>
                </a:solidFill>
                <a:latin typeface="Courier New" pitchFamily="34" charset="0"/>
                <a:ea typeface="Courier New" pitchFamily="34" charset="-122"/>
                <a:cs typeface="Courier New" pitchFamily="34" charset="-120"/>
              </a:rPr>
              <a:t>    return jsonify({'status':'ok'})</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E42"/>
          </a:solidFill>
          <a:ln w="12700">
            <a:solidFill>
              <a:srgbClr val="1A2E42"/>
            </a:solidFill>
            <a:prstDash val="solid"/>
          </a:ln>
        </p:spPr>
      </p:sp>
      <p:sp>
        <p:nvSpPr>
          <p:cNvPr id="3" name="Shape 1"/>
          <p:cNvSpPr/>
          <p:nvPr/>
        </p:nvSpPr>
        <p:spPr>
          <a:xfrm>
            <a:off x="0" y="749808"/>
            <a:ext cx="9144000" cy="45720"/>
          </a:xfrm>
          <a:prstGeom prst="rect">
            <a:avLst/>
          </a:prstGeom>
          <a:solidFill>
            <a:srgbClr val="00838F"/>
          </a:solidFill>
          <a:ln w="12700">
            <a:solidFill>
              <a:srgbClr val="00838F"/>
            </a:solidFill>
            <a:prstDash val="solid"/>
          </a:ln>
        </p:spPr>
      </p:sp>
      <p:sp>
        <p:nvSpPr>
          <p:cNvPr id="4" name="Text 2"/>
          <p:cNvSpPr/>
          <p:nvPr/>
        </p:nvSpPr>
        <p:spPr>
          <a:xfrm>
            <a:off x="27432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AWS Cloud Backend &amp; Real-Time Dashboard</a:t>
            </a:r>
            <a:endParaRPr lang="en-US" sz="2200" dirty="0"/>
          </a:p>
        </p:txBody>
      </p:sp>
      <p:sp>
        <p:nvSpPr>
          <p:cNvPr id="5" name="Shape 3"/>
          <p:cNvSpPr/>
          <p:nvPr/>
        </p:nvSpPr>
        <p:spPr>
          <a:xfrm>
            <a:off x="0" y="4956048"/>
            <a:ext cx="9144000" cy="187452"/>
          </a:xfrm>
          <a:prstGeom prst="rect">
            <a:avLst/>
          </a:prstGeom>
          <a:solidFill>
            <a:srgbClr val="F4F7FB"/>
          </a:solidFill>
          <a:ln w="12700">
            <a:solidFill>
              <a:srgbClr val="D5D8DC"/>
            </a:solidFill>
            <a:prstDash val="solid"/>
          </a:ln>
        </p:spPr>
      </p:sp>
      <p:sp>
        <p:nvSpPr>
          <p:cNvPr id="6" name="Text 4"/>
          <p:cNvSpPr/>
          <p:nvPr/>
        </p:nvSpPr>
        <p:spPr>
          <a:xfrm>
            <a:off x="182880" y="4956048"/>
            <a:ext cx="8778240" cy="187452"/>
          </a:xfrm>
          <a:prstGeom prst="rect">
            <a:avLst/>
          </a:prstGeom>
          <a:noFill/>
          <a:ln/>
        </p:spPr>
        <p:txBody>
          <a:bodyPr wrap="square" rtlCol="0" anchor="ctr"/>
          <a:lstStyle/>
          <a:p>
            <a:pPr indent="0" marL="0">
              <a:buNone/>
            </a:pPr>
            <a:r>
              <a:rPr lang="en-US" sz="750" dirty="0">
                <a:solidFill>
                  <a:srgbClr val="546E7A"/>
                </a:solidFill>
                <a:latin typeface="Calibri" pitchFamily="34" charset="0"/>
                <a:ea typeface="Calibri" pitchFamily="34" charset="-122"/>
                <a:cs typeface="Calibri" pitchFamily="34" charset="-120"/>
              </a:rPr>
              <a:t>Smart Parking and EV Charger Monitoring  ·  Harish Ramasamy  ·  MSc Cloud Computing, NCI  ·  2026</a:t>
            </a:r>
            <a:endParaRPr lang="en-US" sz="750" dirty="0"/>
          </a:p>
        </p:txBody>
      </p:sp>
      <p:sp>
        <p:nvSpPr>
          <p:cNvPr id="7" name="Shape 5"/>
          <p:cNvSpPr/>
          <p:nvPr/>
        </p:nvSpPr>
        <p:spPr>
          <a:xfrm>
            <a:off x="256032" y="886968"/>
            <a:ext cx="1572768" cy="1005840"/>
          </a:xfrm>
          <a:prstGeom prst="rect">
            <a:avLst/>
          </a:prstGeom>
          <a:solidFill>
            <a:srgbClr val="E65100"/>
          </a:solidFill>
          <a:ln w="12700">
            <a:solidFill>
              <a:srgbClr val="E65100"/>
            </a:solidFill>
            <a:prstDash val="solid"/>
          </a:ln>
          <a:effectLst>
            <a:outerShdw sx="100000" sy="100000" kx="0" ky="0" algn="bl" rotWithShape="0" blurRad="50800" dist="25400" dir="8100000">
              <a:srgbClr val="000000">
                <a:alpha val="10000"/>
              </a:srgbClr>
            </a:outerShdw>
          </a:effectLst>
        </p:spPr>
      </p:sp>
      <p:sp>
        <p:nvSpPr>
          <p:cNvPr id="8" name="Text 6"/>
          <p:cNvSpPr/>
          <p:nvPr/>
        </p:nvSpPr>
        <p:spPr>
          <a:xfrm>
            <a:off x="256032" y="950976"/>
            <a:ext cx="1572768"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API Gateway</a:t>
            </a:r>
            <a:endParaRPr lang="en-US" sz="1000" dirty="0"/>
          </a:p>
        </p:txBody>
      </p:sp>
      <p:sp>
        <p:nvSpPr>
          <p:cNvPr id="9" name="Text 7"/>
          <p:cNvSpPr/>
          <p:nvPr/>
        </p:nvSpPr>
        <p:spPr>
          <a:xfrm>
            <a:off x="256032" y="1325880"/>
            <a:ext cx="1572768" cy="274320"/>
          </a:xfrm>
          <a:prstGeom prst="rect">
            <a:avLst/>
          </a:prstGeom>
          <a:noFill/>
          <a:ln/>
        </p:spPr>
        <p:txBody>
          <a:bodyPr wrap="square"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REST  /data</a:t>
            </a:r>
            <a:endParaRPr lang="en-US" sz="800" dirty="0"/>
          </a:p>
        </p:txBody>
      </p:sp>
      <p:sp>
        <p:nvSpPr>
          <p:cNvPr id="10" name="Text 8"/>
          <p:cNvSpPr/>
          <p:nvPr/>
        </p:nvSpPr>
        <p:spPr>
          <a:xfrm>
            <a:off x="1828800" y="1207008"/>
            <a:ext cx="164592" cy="347472"/>
          </a:xfrm>
          <a:prstGeom prst="rect">
            <a:avLst/>
          </a:prstGeom>
          <a:noFill/>
          <a:ln/>
        </p:spPr>
        <p:txBody>
          <a:bodyPr wrap="square" rtlCol="0" anchor="ctr"/>
          <a:lstStyle/>
          <a:p>
            <a:pPr algn="ctr" indent="0" marL="0">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1993392" y="886968"/>
            <a:ext cx="1572768" cy="1005840"/>
          </a:xfrm>
          <a:prstGeom prst="rect">
            <a:avLst/>
          </a:prstGeom>
          <a:solidFill>
            <a:srgbClr val="C62828"/>
          </a:solidFill>
          <a:ln w="12700">
            <a:solidFill>
              <a:srgbClr val="C62828"/>
            </a:solidFill>
            <a:prstDash val="solid"/>
          </a:ln>
          <a:effectLst>
            <a:outerShdw sx="100000" sy="100000" kx="0" ky="0" algn="bl" rotWithShape="0" blurRad="50800" dist="25400" dir="8100000">
              <a:srgbClr val="000000">
                <a:alpha val="10000"/>
              </a:srgbClr>
            </a:outerShdw>
          </a:effectLst>
        </p:spPr>
      </p:sp>
      <p:sp>
        <p:nvSpPr>
          <p:cNvPr id="12" name="Text 10"/>
          <p:cNvSpPr/>
          <p:nvPr/>
        </p:nvSpPr>
        <p:spPr>
          <a:xfrm>
            <a:off x="1993392" y="950976"/>
            <a:ext cx="1572768"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Amazon SQS</a:t>
            </a:r>
            <a:endParaRPr lang="en-US" sz="1000" dirty="0"/>
          </a:p>
        </p:txBody>
      </p:sp>
      <p:sp>
        <p:nvSpPr>
          <p:cNvPr id="13" name="Text 11"/>
          <p:cNvSpPr/>
          <p:nvPr/>
        </p:nvSpPr>
        <p:spPr>
          <a:xfrm>
            <a:off x="1993392" y="1325880"/>
            <a:ext cx="1572768" cy="274320"/>
          </a:xfrm>
          <a:prstGeom prst="rect">
            <a:avLst/>
          </a:prstGeom>
          <a:noFill/>
          <a:ln/>
        </p:spPr>
        <p:txBody>
          <a:bodyPr wrap="square"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Message Queue</a:t>
            </a:r>
            <a:endParaRPr lang="en-US" sz="800" dirty="0"/>
          </a:p>
        </p:txBody>
      </p:sp>
      <p:sp>
        <p:nvSpPr>
          <p:cNvPr id="14" name="Text 12"/>
          <p:cNvSpPr/>
          <p:nvPr/>
        </p:nvSpPr>
        <p:spPr>
          <a:xfrm>
            <a:off x="3566160" y="1207008"/>
            <a:ext cx="164592" cy="347472"/>
          </a:xfrm>
          <a:prstGeom prst="rect">
            <a:avLst/>
          </a:prstGeom>
          <a:noFill/>
          <a:ln/>
        </p:spPr>
        <p:txBody>
          <a:bodyPr wrap="square" rtlCol="0" anchor="ctr"/>
          <a:lstStyle/>
          <a:p>
            <a:pPr algn="ctr" indent="0" marL="0">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3730752" y="886968"/>
            <a:ext cx="1572768" cy="1005840"/>
          </a:xfrm>
          <a:prstGeom prst="rect">
            <a:avLst/>
          </a:prstGeom>
          <a:solidFill>
            <a:srgbClr val="6A1B9A"/>
          </a:solidFill>
          <a:ln w="12700">
            <a:solidFill>
              <a:srgbClr val="6A1B9A"/>
            </a:solidFill>
            <a:prstDash val="solid"/>
          </a:ln>
          <a:effectLst>
            <a:outerShdw sx="100000" sy="100000" kx="0" ky="0" algn="bl" rotWithShape="0" blurRad="50800" dist="25400" dir="8100000">
              <a:srgbClr val="000000">
                <a:alpha val="10000"/>
              </a:srgbClr>
            </a:outerShdw>
          </a:effectLst>
        </p:spPr>
      </p:sp>
      <p:sp>
        <p:nvSpPr>
          <p:cNvPr id="16" name="Text 14"/>
          <p:cNvSpPr/>
          <p:nvPr/>
        </p:nvSpPr>
        <p:spPr>
          <a:xfrm>
            <a:off x="3730752" y="950976"/>
            <a:ext cx="1572768"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AWS Lambda</a:t>
            </a:r>
            <a:endParaRPr lang="en-US" sz="1000" dirty="0"/>
          </a:p>
        </p:txBody>
      </p:sp>
      <p:sp>
        <p:nvSpPr>
          <p:cNvPr id="17" name="Text 15"/>
          <p:cNvSpPr/>
          <p:nvPr/>
        </p:nvSpPr>
        <p:spPr>
          <a:xfrm>
            <a:off x="3730752" y="1325880"/>
            <a:ext cx="1572768" cy="274320"/>
          </a:xfrm>
          <a:prstGeom prst="rect">
            <a:avLst/>
          </a:prstGeom>
          <a:noFill/>
          <a:ln/>
        </p:spPr>
        <p:txBody>
          <a:bodyPr wrap="square"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Event Processor</a:t>
            </a:r>
            <a:endParaRPr lang="en-US" sz="800" dirty="0"/>
          </a:p>
        </p:txBody>
      </p:sp>
      <p:sp>
        <p:nvSpPr>
          <p:cNvPr id="18" name="Text 16"/>
          <p:cNvSpPr/>
          <p:nvPr/>
        </p:nvSpPr>
        <p:spPr>
          <a:xfrm>
            <a:off x="5303520" y="1207008"/>
            <a:ext cx="164592" cy="347472"/>
          </a:xfrm>
          <a:prstGeom prst="rect">
            <a:avLst/>
          </a:prstGeom>
          <a:noFill/>
          <a:ln/>
        </p:spPr>
        <p:txBody>
          <a:bodyPr wrap="square" rtlCol="0" anchor="ctr"/>
          <a:lstStyle/>
          <a:p>
            <a:pPr algn="ctr" indent="0" marL="0">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468112" y="886968"/>
            <a:ext cx="1572768" cy="1005840"/>
          </a:xfrm>
          <a:prstGeom prst="rect">
            <a:avLst/>
          </a:prstGeom>
          <a:solidFill>
            <a:srgbClr val="1565C0"/>
          </a:solidFill>
          <a:ln w="12700">
            <a:solidFill>
              <a:srgbClr val="1565C0"/>
            </a:solidFill>
            <a:prstDash val="solid"/>
          </a:ln>
          <a:effectLst>
            <a:outerShdw sx="100000" sy="100000" kx="0" ky="0" algn="bl" rotWithShape="0" blurRad="50800" dist="25400" dir="8100000">
              <a:srgbClr val="000000">
                <a:alpha val="10000"/>
              </a:srgbClr>
            </a:outerShdw>
          </a:effectLst>
        </p:spPr>
      </p:sp>
      <p:sp>
        <p:nvSpPr>
          <p:cNvPr id="20" name="Text 18"/>
          <p:cNvSpPr/>
          <p:nvPr/>
        </p:nvSpPr>
        <p:spPr>
          <a:xfrm>
            <a:off x="5468112" y="950976"/>
            <a:ext cx="1572768"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DynamoDB</a:t>
            </a:r>
            <a:endParaRPr lang="en-US" sz="1000" dirty="0"/>
          </a:p>
        </p:txBody>
      </p:sp>
      <p:sp>
        <p:nvSpPr>
          <p:cNvPr id="21" name="Text 19"/>
          <p:cNvSpPr/>
          <p:nvPr/>
        </p:nvSpPr>
        <p:spPr>
          <a:xfrm>
            <a:off x="5468112" y="1325880"/>
            <a:ext cx="1572768" cy="274320"/>
          </a:xfrm>
          <a:prstGeom prst="rect">
            <a:avLst/>
          </a:prstGeom>
          <a:noFill/>
          <a:ln/>
        </p:spPr>
        <p:txBody>
          <a:bodyPr wrap="square"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NoSQL Store</a:t>
            </a:r>
            <a:endParaRPr lang="en-US" sz="800" dirty="0"/>
          </a:p>
        </p:txBody>
      </p:sp>
      <p:sp>
        <p:nvSpPr>
          <p:cNvPr id="22" name="Text 20"/>
          <p:cNvSpPr/>
          <p:nvPr/>
        </p:nvSpPr>
        <p:spPr>
          <a:xfrm>
            <a:off x="7040880" y="1207008"/>
            <a:ext cx="164592" cy="347472"/>
          </a:xfrm>
          <a:prstGeom prst="rect">
            <a:avLst/>
          </a:prstGeom>
          <a:noFill/>
          <a:ln/>
        </p:spPr>
        <p:txBody>
          <a:bodyPr wrap="square" rtlCol="0" anchor="ctr"/>
          <a:lstStyle/>
          <a:p>
            <a:pPr algn="ctr" indent="0" marL="0">
              <a:buNone/>
            </a:pPr>
            <a:r>
              <a:rPr lang="en-US" sz="1400" dirty="0">
                <a:solidFill>
                  <a:srgbClr val="546E7A"/>
                </a:solidFill>
                <a:latin typeface="Calibri" pitchFamily="34" charset="0"/>
                <a:ea typeface="Calibri" pitchFamily="34" charset="-122"/>
                <a:cs typeface="Calibri" pitchFamily="34" charset="-120"/>
              </a:rPr>
              <a:t>→</a:t>
            </a:r>
            <a:endParaRPr lang="en-US" sz="1400" dirty="0"/>
          </a:p>
        </p:txBody>
      </p:sp>
      <p:sp>
        <p:nvSpPr>
          <p:cNvPr id="23" name="Shape 21"/>
          <p:cNvSpPr/>
          <p:nvPr/>
        </p:nvSpPr>
        <p:spPr>
          <a:xfrm>
            <a:off x="7205472" y="886968"/>
            <a:ext cx="1572768" cy="1005840"/>
          </a:xfrm>
          <a:prstGeom prst="rect">
            <a:avLst/>
          </a:prstGeom>
          <a:solidFill>
            <a:srgbClr val="00838F"/>
          </a:solidFill>
          <a:ln w="12700">
            <a:solidFill>
              <a:srgbClr val="00838F"/>
            </a:solidFill>
            <a:prstDash val="solid"/>
          </a:ln>
          <a:effectLst>
            <a:outerShdw sx="100000" sy="100000" kx="0" ky="0" algn="bl" rotWithShape="0" blurRad="50800" dist="25400" dir="8100000">
              <a:srgbClr val="000000">
                <a:alpha val="10000"/>
              </a:srgbClr>
            </a:outerShdw>
          </a:effectLst>
        </p:spPr>
      </p:sp>
      <p:sp>
        <p:nvSpPr>
          <p:cNvPr id="24" name="Text 22"/>
          <p:cNvSpPr/>
          <p:nvPr/>
        </p:nvSpPr>
        <p:spPr>
          <a:xfrm>
            <a:off x="7205472" y="950976"/>
            <a:ext cx="1572768"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EC2 Host</a:t>
            </a:r>
            <a:endParaRPr lang="en-US" sz="1000" dirty="0"/>
          </a:p>
        </p:txBody>
      </p:sp>
      <p:sp>
        <p:nvSpPr>
          <p:cNvPr id="25" name="Text 23"/>
          <p:cNvSpPr/>
          <p:nvPr/>
        </p:nvSpPr>
        <p:spPr>
          <a:xfrm>
            <a:off x="7205472" y="1325880"/>
            <a:ext cx="1572768" cy="274320"/>
          </a:xfrm>
          <a:prstGeom prst="rect">
            <a:avLst/>
          </a:prstGeom>
          <a:noFill/>
          <a:ln/>
        </p:spPr>
        <p:txBody>
          <a:bodyPr wrap="square" rtlCol="0" anchor="ctr"/>
          <a:lstStyle/>
          <a:p>
            <a:pPr algn="ctr" indent="0" marL="0">
              <a:buNone/>
            </a:pPr>
            <a:r>
              <a:rPr lang="en-US" sz="800" dirty="0">
                <a:solidFill>
                  <a:srgbClr val="DDDDDD"/>
                </a:solidFill>
                <a:latin typeface="Calibri" pitchFamily="34" charset="0"/>
                <a:ea typeface="Calibri" pitchFamily="34" charset="-122"/>
                <a:cs typeface="Calibri" pitchFamily="34" charset="-120"/>
              </a:rPr>
              <a:t>React Dashboard</a:t>
            </a:r>
            <a:endParaRPr lang="en-US" sz="800" dirty="0"/>
          </a:p>
        </p:txBody>
      </p:sp>
      <p:sp>
        <p:nvSpPr>
          <p:cNvPr id="26" name="Shape 24"/>
          <p:cNvSpPr/>
          <p:nvPr/>
        </p:nvSpPr>
        <p:spPr>
          <a:xfrm>
            <a:off x="256032" y="2029968"/>
            <a:ext cx="4160520" cy="26974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27" name="Shape 25"/>
          <p:cNvSpPr/>
          <p:nvPr/>
        </p:nvSpPr>
        <p:spPr>
          <a:xfrm>
            <a:off x="256032" y="2029968"/>
            <a:ext cx="4160520" cy="301752"/>
          </a:xfrm>
          <a:prstGeom prst="rect">
            <a:avLst/>
          </a:prstGeom>
          <a:solidFill>
            <a:srgbClr val="1565C0"/>
          </a:solidFill>
          <a:ln w="12700">
            <a:solidFill>
              <a:srgbClr val="1565C0"/>
            </a:solidFill>
            <a:prstDash val="solid"/>
          </a:ln>
        </p:spPr>
      </p:sp>
      <p:sp>
        <p:nvSpPr>
          <p:cNvPr id="28" name="Text 26"/>
          <p:cNvSpPr/>
          <p:nvPr/>
        </p:nvSpPr>
        <p:spPr>
          <a:xfrm>
            <a:off x="384048" y="2029968"/>
            <a:ext cx="3913632"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Scalability Highlights</a:t>
            </a:r>
            <a:endParaRPr lang="en-US" sz="1100" dirty="0"/>
          </a:p>
        </p:txBody>
      </p:sp>
      <p:sp>
        <p:nvSpPr>
          <p:cNvPr id="29" name="Text 27"/>
          <p:cNvSpPr/>
          <p:nvPr/>
        </p:nvSpPr>
        <p:spPr>
          <a:xfrm>
            <a:off x="384048" y="2414016"/>
            <a:ext cx="1325880" cy="347472"/>
          </a:xfrm>
          <a:prstGeom prst="rect">
            <a:avLst/>
          </a:prstGeom>
          <a:noFill/>
          <a:ln/>
        </p:spPr>
        <p:txBody>
          <a:bodyPr wrap="square"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API Gateway:</a:t>
            </a:r>
            <a:endParaRPr lang="en-US" sz="950" dirty="0"/>
          </a:p>
        </p:txBody>
      </p:sp>
      <p:sp>
        <p:nvSpPr>
          <p:cNvPr id="30" name="Text 28"/>
          <p:cNvSpPr/>
          <p:nvPr/>
        </p:nvSpPr>
        <p:spPr>
          <a:xfrm>
            <a:off x="1719072" y="2414016"/>
            <a:ext cx="2560320" cy="347472"/>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Auto-scales — no server management</a:t>
            </a:r>
            <a:endParaRPr lang="en-US" sz="950" dirty="0"/>
          </a:p>
        </p:txBody>
      </p:sp>
      <p:sp>
        <p:nvSpPr>
          <p:cNvPr id="31" name="Text 29"/>
          <p:cNvSpPr/>
          <p:nvPr/>
        </p:nvSpPr>
        <p:spPr>
          <a:xfrm>
            <a:off x="384048" y="2834640"/>
            <a:ext cx="1325880" cy="347472"/>
          </a:xfrm>
          <a:prstGeom prst="rect">
            <a:avLst/>
          </a:prstGeom>
          <a:noFill/>
          <a:ln/>
        </p:spPr>
        <p:txBody>
          <a:bodyPr wrap="square"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Amazon SQS:</a:t>
            </a:r>
            <a:endParaRPr lang="en-US" sz="950" dirty="0"/>
          </a:p>
        </p:txBody>
      </p:sp>
      <p:sp>
        <p:nvSpPr>
          <p:cNvPr id="32" name="Text 30"/>
          <p:cNvSpPr/>
          <p:nvPr/>
        </p:nvSpPr>
        <p:spPr>
          <a:xfrm>
            <a:off x="1719072" y="2834640"/>
            <a:ext cx="2560320" cy="347472"/>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Buffers traffic spikes, decouples layers</a:t>
            </a:r>
            <a:endParaRPr lang="en-US" sz="950" dirty="0"/>
          </a:p>
        </p:txBody>
      </p:sp>
      <p:sp>
        <p:nvSpPr>
          <p:cNvPr id="33" name="Text 31"/>
          <p:cNvSpPr/>
          <p:nvPr/>
        </p:nvSpPr>
        <p:spPr>
          <a:xfrm>
            <a:off x="384048" y="3255264"/>
            <a:ext cx="1325880" cy="347472"/>
          </a:xfrm>
          <a:prstGeom prst="rect">
            <a:avLst/>
          </a:prstGeom>
          <a:noFill/>
          <a:ln/>
        </p:spPr>
        <p:txBody>
          <a:bodyPr wrap="square"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AWS Lambda:</a:t>
            </a:r>
            <a:endParaRPr lang="en-US" sz="950" dirty="0"/>
          </a:p>
        </p:txBody>
      </p:sp>
      <p:sp>
        <p:nvSpPr>
          <p:cNvPr id="34" name="Text 32"/>
          <p:cNvSpPr/>
          <p:nvPr/>
        </p:nvSpPr>
        <p:spPr>
          <a:xfrm>
            <a:off x="1719072" y="3255264"/>
            <a:ext cx="2560320" cy="347472"/>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1000× concurrent auto-scale on demand</a:t>
            </a:r>
            <a:endParaRPr lang="en-US" sz="950" dirty="0"/>
          </a:p>
        </p:txBody>
      </p:sp>
      <p:sp>
        <p:nvSpPr>
          <p:cNvPr id="35" name="Text 33"/>
          <p:cNvSpPr/>
          <p:nvPr/>
        </p:nvSpPr>
        <p:spPr>
          <a:xfrm>
            <a:off x="384048" y="3675888"/>
            <a:ext cx="1325880" cy="347472"/>
          </a:xfrm>
          <a:prstGeom prst="rect">
            <a:avLst/>
          </a:prstGeom>
          <a:noFill/>
          <a:ln/>
        </p:spPr>
        <p:txBody>
          <a:bodyPr wrap="square"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DynamoDB:</a:t>
            </a:r>
            <a:endParaRPr lang="en-US" sz="950" dirty="0"/>
          </a:p>
        </p:txBody>
      </p:sp>
      <p:sp>
        <p:nvSpPr>
          <p:cNvPr id="36" name="Text 34"/>
          <p:cNvSpPr/>
          <p:nvPr/>
        </p:nvSpPr>
        <p:spPr>
          <a:xfrm>
            <a:off x="1719072" y="3675888"/>
            <a:ext cx="2560320" cy="347472"/>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On-demand RCU/WCU — no manual sizing</a:t>
            </a:r>
            <a:endParaRPr lang="en-US" sz="950" dirty="0"/>
          </a:p>
        </p:txBody>
      </p:sp>
      <p:sp>
        <p:nvSpPr>
          <p:cNvPr id="37" name="Text 35"/>
          <p:cNvSpPr/>
          <p:nvPr/>
        </p:nvSpPr>
        <p:spPr>
          <a:xfrm>
            <a:off x="384048" y="4096512"/>
            <a:ext cx="1325880" cy="347472"/>
          </a:xfrm>
          <a:prstGeom prst="rect">
            <a:avLst/>
          </a:prstGeom>
          <a:noFill/>
          <a:ln/>
        </p:spPr>
        <p:txBody>
          <a:bodyPr wrap="square"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CI/CD Pipeline:</a:t>
            </a:r>
            <a:endParaRPr lang="en-US" sz="950" dirty="0"/>
          </a:p>
        </p:txBody>
      </p:sp>
      <p:sp>
        <p:nvSpPr>
          <p:cNvPr id="38" name="Text 36"/>
          <p:cNvSpPr/>
          <p:nvPr/>
        </p:nvSpPr>
        <p:spPr>
          <a:xfrm>
            <a:off x="1719072" y="4096512"/>
            <a:ext cx="2560320" cy="347472"/>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11 successful runs, avg deploy &lt; 40 s</a:t>
            </a:r>
            <a:endParaRPr lang="en-US" sz="950" dirty="0"/>
          </a:p>
        </p:txBody>
      </p:sp>
      <p:sp>
        <p:nvSpPr>
          <p:cNvPr id="39" name="Shape 37"/>
          <p:cNvSpPr/>
          <p:nvPr/>
        </p:nvSpPr>
        <p:spPr>
          <a:xfrm>
            <a:off x="4617720" y="2029968"/>
            <a:ext cx="4270248" cy="2697480"/>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40" name="Shape 38"/>
          <p:cNvSpPr/>
          <p:nvPr/>
        </p:nvSpPr>
        <p:spPr>
          <a:xfrm>
            <a:off x="4617720" y="2029968"/>
            <a:ext cx="4270248" cy="301752"/>
          </a:xfrm>
          <a:prstGeom prst="rect">
            <a:avLst/>
          </a:prstGeom>
          <a:solidFill>
            <a:srgbClr val="00838F"/>
          </a:solidFill>
          <a:ln w="12700">
            <a:solidFill>
              <a:srgbClr val="00838F"/>
            </a:solidFill>
            <a:prstDash val="solid"/>
          </a:ln>
        </p:spPr>
      </p:sp>
      <p:sp>
        <p:nvSpPr>
          <p:cNvPr id="41" name="Text 39"/>
          <p:cNvSpPr/>
          <p:nvPr/>
        </p:nvSpPr>
        <p:spPr>
          <a:xfrm>
            <a:off x="4736592" y="2029968"/>
            <a:ext cx="402336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React.js Dashboard</a:t>
            </a:r>
            <a:endParaRPr lang="en-US" sz="1100" dirty="0"/>
          </a:p>
        </p:txBody>
      </p:sp>
      <p:sp>
        <p:nvSpPr>
          <p:cNvPr id="42" name="Text 40"/>
          <p:cNvSpPr/>
          <p:nvPr/>
        </p:nvSpPr>
        <p:spPr>
          <a:xfrm>
            <a:off x="4754880" y="2414016"/>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Live metric updates for all 5 sensor types</a:t>
            </a:r>
            <a:endParaRPr lang="en-US" sz="950" dirty="0"/>
          </a:p>
        </p:txBody>
      </p:sp>
      <p:sp>
        <p:nvSpPr>
          <p:cNvPr id="43" name="Text 41"/>
          <p:cNvSpPr/>
          <p:nvPr/>
        </p:nvSpPr>
        <p:spPr>
          <a:xfrm>
            <a:off x="4754880" y="2761488"/>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Colour-coded 50-bay parking grid</a:t>
            </a:r>
            <a:endParaRPr lang="en-US" sz="950" dirty="0"/>
          </a:p>
        </p:txBody>
      </p:sp>
      <p:sp>
        <p:nvSpPr>
          <p:cNvPr id="44" name="Text 42"/>
          <p:cNvSpPr/>
          <p:nvPr/>
        </p:nvSpPr>
        <p:spPr>
          <a:xfrm>
            <a:off x="4754880" y="3108960"/>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EV charger cards — status, kW, vehicle ID</a:t>
            </a:r>
            <a:endParaRPr lang="en-US" sz="950" dirty="0"/>
          </a:p>
        </p:txBody>
      </p:sp>
      <p:sp>
        <p:nvSpPr>
          <p:cNvPr id="45" name="Text 43"/>
          <p:cNvSpPr/>
          <p:nvPr/>
        </p:nvSpPr>
        <p:spPr>
          <a:xfrm>
            <a:off x="4754880" y="3456432"/>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Live Power Draw bar chart (8 chargers)</a:t>
            </a:r>
            <a:endParaRPr lang="en-US" sz="950" dirty="0"/>
          </a:p>
        </p:txBody>
      </p:sp>
      <p:sp>
        <p:nvSpPr>
          <p:cNvPr id="46" name="Text 44"/>
          <p:cNvSpPr/>
          <p:nvPr/>
        </p:nvSpPr>
        <p:spPr>
          <a:xfrm>
            <a:off x="4754880" y="3803904"/>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Occupancy trend line chart</a:t>
            </a:r>
            <a:endParaRPr lang="en-US" sz="950" dirty="0"/>
          </a:p>
        </p:txBody>
      </p:sp>
      <p:sp>
        <p:nvSpPr>
          <p:cNvPr id="47" name="Text 45"/>
          <p:cNvSpPr/>
          <p:nvPr/>
        </p:nvSpPr>
        <p:spPr>
          <a:xfrm>
            <a:off x="4754880" y="4151376"/>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Environmental panel — temp, humidity, lux</a:t>
            </a:r>
            <a:endParaRPr lang="en-US" sz="950" dirty="0"/>
          </a:p>
        </p:txBody>
      </p:sp>
      <p:sp>
        <p:nvSpPr>
          <p:cNvPr id="48" name="Text 46"/>
          <p:cNvSpPr/>
          <p:nvPr/>
        </p:nvSpPr>
        <p:spPr>
          <a:xfrm>
            <a:off x="4754880" y="4498848"/>
            <a:ext cx="4023360" cy="310896"/>
          </a:xfrm>
          <a:prstGeom prst="rect">
            <a:avLst/>
          </a:prstGeom>
          <a:noFill/>
          <a:ln/>
        </p:spPr>
        <p:txBody>
          <a:bodyPr wrap="square" rtlCol="0" anchor="ctr"/>
          <a:lstStyle/>
          <a:p>
            <a:pPr indent="0" marL="0">
              <a:buNone/>
            </a:pPr>
            <a:r>
              <a:rPr lang="en-US" sz="950" dirty="0">
                <a:solidFill>
                  <a:srgbClr val="1A2E42"/>
                </a:solidFill>
                <a:latin typeface="Calibri" pitchFamily="34" charset="0"/>
                <a:ea typeface="Calibri" pitchFamily="34" charset="-122"/>
                <a:cs typeface="Calibri" pitchFamily="34" charset="-120"/>
              </a:rPr>
              <a:t>▸  Real-time alerts feed for anomaly events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E42"/>
          </a:solidFill>
          <a:ln w="12700">
            <a:solidFill>
              <a:srgbClr val="1A2E42"/>
            </a:solidFill>
            <a:prstDash val="solid"/>
          </a:ln>
        </p:spPr>
      </p:sp>
      <p:sp>
        <p:nvSpPr>
          <p:cNvPr id="3" name="Shape 1"/>
          <p:cNvSpPr/>
          <p:nvPr/>
        </p:nvSpPr>
        <p:spPr>
          <a:xfrm>
            <a:off x="0" y="749808"/>
            <a:ext cx="9144000" cy="45720"/>
          </a:xfrm>
          <a:prstGeom prst="rect">
            <a:avLst/>
          </a:prstGeom>
          <a:solidFill>
            <a:srgbClr val="00838F"/>
          </a:solidFill>
          <a:ln w="12700">
            <a:solidFill>
              <a:srgbClr val="00838F"/>
            </a:solidFill>
            <a:prstDash val="solid"/>
          </a:ln>
        </p:spPr>
      </p:sp>
      <p:sp>
        <p:nvSpPr>
          <p:cNvPr id="4" name="Text 2"/>
          <p:cNvSpPr/>
          <p:nvPr/>
        </p:nvSpPr>
        <p:spPr>
          <a:xfrm>
            <a:off x="27432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CI/CD Pipeline &amp; Results</a:t>
            </a:r>
            <a:endParaRPr lang="en-US" sz="2200" dirty="0"/>
          </a:p>
        </p:txBody>
      </p:sp>
      <p:sp>
        <p:nvSpPr>
          <p:cNvPr id="5" name="Shape 3"/>
          <p:cNvSpPr/>
          <p:nvPr/>
        </p:nvSpPr>
        <p:spPr>
          <a:xfrm>
            <a:off x="0" y="4956048"/>
            <a:ext cx="9144000" cy="187452"/>
          </a:xfrm>
          <a:prstGeom prst="rect">
            <a:avLst/>
          </a:prstGeom>
          <a:solidFill>
            <a:srgbClr val="F4F7FB"/>
          </a:solidFill>
          <a:ln w="12700">
            <a:solidFill>
              <a:srgbClr val="D5D8DC"/>
            </a:solidFill>
            <a:prstDash val="solid"/>
          </a:ln>
        </p:spPr>
      </p:sp>
      <p:sp>
        <p:nvSpPr>
          <p:cNvPr id="6" name="Text 4"/>
          <p:cNvSpPr/>
          <p:nvPr/>
        </p:nvSpPr>
        <p:spPr>
          <a:xfrm>
            <a:off x="182880" y="4956048"/>
            <a:ext cx="8778240" cy="187452"/>
          </a:xfrm>
          <a:prstGeom prst="rect">
            <a:avLst/>
          </a:prstGeom>
          <a:noFill/>
          <a:ln/>
        </p:spPr>
        <p:txBody>
          <a:bodyPr wrap="square" rtlCol="0" anchor="ctr"/>
          <a:lstStyle/>
          <a:p>
            <a:pPr indent="0" marL="0">
              <a:buNone/>
            </a:pPr>
            <a:r>
              <a:rPr lang="en-US" sz="750" dirty="0">
                <a:solidFill>
                  <a:srgbClr val="546E7A"/>
                </a:solidFill>
                <a:latin typeface="Calibri" pitchFamily="34" charset="0"/>
                <a:ea typeface="Calibri" pitchFamily="34" charset="-122"/>
                <a:cs typeface="Calibri" pitchFamily="34" charset="-120"/>
              </a:rPr>
              <a:t>Smart Parking and EV Charger Monitoring  ·  Harish Ramasamy  ·  MSc Cloud Computing, NCI  ·  2026</a:t>
            </a:r>
            <a:endParaRPr lang="en-US" sz="750" dirty="0"/>
          </a:p>
        </p:txBody>
      </p:sp>
      <p:sp>
        <p:nvSpPr>
          <p:cNvPr id="7" name="Shape 5"/>
          <p:cNvSpPr/>
          <p:nvPr/>
        </p:nvSpPr>
        <p:spPr>
          <a:xfrm>
            <a:off x="256032" y="886968"/>
            <a:ext cx="4160520" cy="3858768"/>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8" name="Shape 6"/>
          <p:cNvSpPr/>
          <p:nvPr/>
        </p:nvSpPr>
        <p:spPr>
          <a:xfrm>
            <a:off x="256032" y="886968"/>
            <a:ext cx="4160520" cy="301752"/>
          </a:xfrm>
          <a:prstGeom prst="rect">
            <a:avLst/>
          </a:prstGeom>
          <a:solidFill>
            <a:srgbClr val="6A1B9A"/>
          </a:solidFill>
          <a:ln w="12700">
            <a:solidFill>
              <a:srgbClr val="6A1B9A"/>
            </a:solidFill>
            <a:prstDash val="solid"/>
          </a:ln>
        </p:spPr>
      </p:sp>
      <p:sp>
        <p:nvSpPr>
          <p:cNvPr id="9" name="Text 7"/>
          <p:cNvSpPr/>
          <p:nvPr/>
        </p:nvSpPr>
        <p:spPr>
          <a:xfrm>
            <a:off x="384048" y="886968"/>
            <a:ext cx="3913632"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GitHub Actions CI/CD Pipeline</a:t>
            </a:r>
            <a:endParaRPr lang="en-US" sz="1100" dirty="0"/>
          </a:p>
        </p:txBody>
      </p:sp>
      <p:sp>
        <p:nvSpPr>
          <p:cNvPr id="10" name="Shape 8"/>
          <p:cNvSpPr/>
          <p:nvPr/>
        </p:nvSpPr>
        <p:spPr>
          <a:xfrm>
            <a:off x="365760" y="1298448"/>
            <a:ext cx="402336" cy="393192"/>
          </a:xfrm>
          <a:prstGeom prst="rect">
            <a:avLst/>
          </a:prstGeom>
          <a:solidFill>
            <a:srgbClr val="1565C0"/>
          </a:solidFill>
          <a:ln w="12700">
            <a:solidFill>
              <a:srgbClr val="1565C0"/>
            </a:solidFill>
            <a:prstDash val="solid"/>
          </a:ln>
        </p:spPr>
      </p:sp>
      <p:sp>
        <p:nvSpPr>
          <p:cNvPr id="11" name="Text 9"/>
          <p:cNvSpPr/>
          <p:nvPr/>
        </p:nvSpPr>
        <p:spPr>
          <a:xfrm>
            <a:off x="365760" y="1298448"/>
            <a:ext cx="402336"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859536" y="1316736"/>
            <a:ext cx="3383280" cy="201168"/>
          </a:xfrm>
          <a:prstGeom prst="rect">
            <a:avLst/>
          </a:prstGeom>
          <a:noFill/>
          <a:ln/>
        </p:spPr>
        <p:txBody>
          <a:bodyPr wrap="square" rtlCol="0" anchor="ctr"/>
          <a:lstStyle/>
          <a:p>
            <a:pPr indent="0" marL="0">
              <a:buNone/>
            </a:pPr>
            <a:r>
              <a:rPr lang="en-US" sz="950" b="1" dirty="0">
                <a:solidFill>
                  <a:srgbClr val="1A2E42"/>
                </a:solidFill>
                <a:latin typeface="Calibri" pitchFamily="34" charset="0"/>
                <a:ea typeface="Calibri" pitchFamily="34" charset="-122"/>
                <a:cs typeface="Calibri" pitchFamily="34" charset="-120"/>
              </a:rPr>
              <a:t>Code Push</a:t>
            </a:r>
            <a:endParaRPr lang="en-US" sz="950" dirty="0"/>
          </a:p>
        </p:txBody>
      </p:sp>
      <p:sp>
        <p:nvSpPr>
          <p:cNvPr id="13" name="Text 11"/>
          <p:cNvSpPr/>
          <p:nvPr/>
        </p:nvSpPr>
        <p:spPr>
          <a:xfrm>
            <a:off x="859536" y="1508760"/>
            <a:ext cx="3383280" cy="201168"/>
          </a:xfrm>
          <a:prstGeom prst="rect">
            <a:avLst/>
          </a:prstGeom>
          <a:noFill/>
          <a:ln/>
        </p:spPr>
        <p:txBody>
          <a:bodyPr wrap="square" rtlCol="0" anchor="ctr"/>
          <a:lstStyle/>
          <a:p>
            <a:pPr indent="0" marL="0">
              <a:buNone/>
            </a:pPr>
            <a:r>
              <a:rPr lang="en-US" sz="850" dirty="0">
                <a:solidFill>
                  <a:srgbClr val="546E7A"/>
                </a:solidFill>
                <a:latin typeface="Calibri" pitchFamily="34" charset="0"/>
                <a:ea typeface="Calibri" pitchFamily="34" charset="-122"/>
                <a:cs typeface="Calibri" pitchFamily="34" charset="-120"/>
              </a:rPr>
              <a:t>git push to main triggers workflow</a:t>
            </a:r>
            <a:endParaRPr lang="en-US" sz="850" dirty="0"/>
          </a:p>
        </p:txBody>
      </p:sp>
      <p:sp>
        <p:nvSpPr>
          <p:cNvPr id="14" name="Shape 12"/>
          <p:cNvSpPr/>
          <p:nvPr/>
        </p:nvSpPr>
        <p:spPr>
          <a:xfrm>
            <a:off x="365760" y="1801368"/>
            <a:ext cx="402336" cy="393192"/>
          </a:xfrm>
          <a:prstGeom prst="rect">
            <a:avLst/>
          </a:prstGeom>
          <a:solidFill>
            <a:srgbClr val="00838F"/>
          </a:solidFill>
          <a:ln w="12700">
            <a:solidFill>
              <a:srgbClr val="00838F"/>
            </a:solidFill>
            <a:prstDash val="solid"/>
          </a:ln>
        </p:spPr>
      </p:sp>
      <p:sp>
        <p:nvSpPr>
          <p:cNvPr id="15" name="Text 13"/>
          <p:cNvSpPr/>
          <p:nvPr/>
        </p:nvSpPr>
        <p:spPr>
          <a:xfrm>
            <a:off x="365760" y="1801368"/>
            <a:ext cx="402336"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859536" y="1819656"/>
            <a:ext cx="3383280" cy="201168"/>
          </a:xfrm>
          <a:prstGeom prst="rect">
            <a:avLst/>
          </a:prstGeom>
          <a:noFill/>
          <a:ln/>
        </p:spPr>
        <p:txBody>
          <a:bodyPr wrap="square" rtlCol="0" anchor="ctr"/>
          <a:lstStyle/>
          <a:p>
            <a:pPr indent="0" marL="0">
              <a:buNone/>
            </a:pPr>
            <a:r>
              <a:rPr lang="en-US" sz="950" b="1" dirty="0">
                <a:solidFill>
                  <a:srgbClr val="1A2E42"/>
                </a:solidFill>
                <a:latin typeface="Calibri" pitchFamily="34" charset="0"/>
                <a:ea typeface="Calibri" pitchFamily="34" charset="-122"/>
                <a:cs typeface="Calibri" pitchFamily="34" charset="-120"/>
              </a:rPr>
              <a:t>Install</a:t>
            </a:r>
            <a:endParaRPr lang="en-US" sz="950" dirty="0"/>
          </a:p>
        </p:txBody>
      </p:sp>
      <p:sp>
        <p:nvSpPr>
          <p:cNvPr id="17" name="Text 15"/>
          <p:cNvSpPr/>
          <p:nvPr/>
        </p:nvSpPr>
        <p:spPr>
          <a:xfrm>
            <a:off x="859536" y="2011680"/>
            <a:ext cx="3383280" cy="201168"/>
          </a:xfrm>
          <a:prstGeom prst="rect">
            <a:avLst/>
          </a:prstGeom>
          <a:noFill/>
          <a:ln/>
        </p:spPr>
        <p:txBody>
          <a:bodyPr wrap="square" rtlCol="0" anchor="ctr"/>
          <a:lstStyle/>
          <a:p>
            <a:pPr indent="0" marL="0">
              <a:buNone/>
            </a:pPr>
            <a:r>
              <a:rPr lang="en-US" sz="850" dirty="0">
                <a:solidFill>
                  <a:srgbClr val="546E7A"/>
                </a:solidFill>
                <a:latin typeface="Calibri" pitchFamily="34" charset="0"/>
                <a:ea typeface="Calibri" pitchFamily="34" charset="-122"/>
                <a:cs typeface="Calibri" pitchFamily="34" charset="-120"/>
              </a:rPr>
              <a:t>pip install -r requirements.txt</a:t>
            </a:r>
            <a:endParaRPr lang="en-US" sz="850" dirty="0"/>
          </a:p>
        </p:txBody>
      </p:sp>
      <p:sp>
        <p:nvSpPr>
          <p:cNvPr id="18" name="Shape 16"/>
          <p:cNvSpPr/>
          <p:nvPr/>
        </p:nvSpPr>
        <p:spPr>
          <a:xfrm>
            <a:off x="365760" y="2304288"/>
            <a:ext cx="402336" cy="393192"/>
          </a:xfrm>
          <a:prstGeom prst="rect">
            <a:avLst/>
          </a:prstGeom>
          <a:solidFill>
            <a:srgbClr val="2E7D32"/>
          </a:solidFill>
          <a:ln w="12700">
            <a:solidFill>
              <a:srgbClr val="2E7D32"/>
            </a:solidFill>
            <a:prstDash val="solid"/>
          </a:ln>
        </p:spPr>
      </p:sp>
      <p:sp>
        <p:nvSpPr>
          <p:cNvPr id="19" name="Text 17"/>
          <p:cNvSpPr/>
          <p:nvPr/>
        </p:nvSpPr>
        <p:spPr>
          <a:xfrm>
            <a:off x="365760" y="2304288"/>
            <a:ext cx="402336"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59536" y="2322576"/>
            <a:ext cx="3383280" cy="201168"/>
          </a:xfrm>
          <a:prstGeom prst="rect">
            <a:avLst/>
          </a:prstGeom>
          <a:noFill/>
          <a:ln/>
        </p:spPr>
        <p:txBody>
          <a:bodyPr wrap="square" rtlCol="0" anchor="ctr"/>
          <a:lstStyle/>
          <a:p>
            <a:pPr indent="0" marL="0">
              <a:buNone/>
            </a:pPr>
            <a:r>
              <a:rPr lang="en-US" sz="950" b="1" dirty="0">
                <a:solidFill>
                  <a:srgbClr val="1A2E42"/>
                </a:solidFill>
                <a:latin typeface="Calibri" pitchFamily="34" charset="0"/>
                <a:ea typeface="Calibri" pitchFamily="34" charset="-122"/>
                <a:cs typeface="Calibri" pitchFamily="34" charset="-120"/>
              </a:rPr>
              <a:t>Test</a:t>
            </a:r>
            <a:endParaRPr lang="en-US" sz="950" dirty="0"/>
          </a:p>
        </p:txBody>
      </p:sp>
      <p:sp>
        <p:nvSpPr>
          <p:cNvPr id="21" name="Text 19"/>
          <p:cNvSpPr/>
          <p:nvPr/>
        </p:nvSpPr>
        <p:spPr>
          <a:xfrm>
            <a:off x="859536" y="2514600"/>
            <a:ext cx="3383280" cy="201168"/>
          </a:xfrm>
          <a:prstGeom prst="rect">
            <a:avLst/>
          </a:prstGeom>
          <a:noFill/>
          <a:ln/>
        </p:spPr>
        <p:txBody>
          <a:bodyPr wrap="square" rtlCol="0" anchor="ctr"/>
          <a:lstStyle/>
          <a:p>
            <a:pPr indent="0" marL="0">
              <a:buNone/>
            </a:pPr>
            <a:r>
              <a:rPr lang="en-US" sz="850" dirty="0">
                <a:solidFill>
                  <a:srgbClr val="546E7A"/>
                </a:solidFill>
                <a:latin typeface="Calibri" pitchFamily="34" charset="0"/>
                <a:ea typeface="Calibri" pitchFamily="34" charset="-122"/>
                <a:cs typeface="Calibri" pitchFamily="34" charset="-120"/>
              </a:rPr>
              <a:t>pytest tests/ — automated unit tests</a:t>
            </a:r>
            <a:endParaRPr lang="en-US" sz="850" dirty="0"/>
          </a:p>
        </p:txBody>
      </p:sp>
      <p:sp>
        <p:nvSpPr>
          <p:cNvPr id="22" name="Shape 20"/>
          <p:cNvSpPr/>
          <p:nvPr/>
        </p:nvSpPr>
        <p:spPr>
          <a:xfrm>
            <a:off x="365760" y="2807208"/>
            <a:ext cx="402336" cy="393192"/>
          </a:xfrm>
          <a:prstGeom prst="rect">
            <a:avLst/>
          </a:prstGeom>
          <a:solidFill>
            <a:srgbClr val="E65100"/>
          </a:solidFill>
          <a:ln w="12700">
            <a:solidFill>
              <a:srgbClr val="E65100"/>
            </a:solidFill>
            <a:prstDash val="solid"/>
          </a:ln>
        </p:spPr>
      </p:sp>
      <p:sp>
        <p:nvSpPr>
          <p:cNvPr id="23" name="Text 21"/>
          <p:cNvSpPr/>
          <p:nvPr/>
        </p:nvSpPr>
        <p:spPr>
          <a:xfrm>
            <a:off x="365760" y="2807208"/>
            <a:ext cx="402336"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859536" y="2825496"/>
            <a:ext cx="3383280" cy="201168"/>
          </a:xfrm>
          <a:prstGeom prst="rect">
            <a:avLst/>
          </a:prstGeom>
          <a:noFill/>
          <a:ln/>
        </p:spPr>
        <p:txBody>
          <a:bodyPr wrap="square" rtlCol="0" anchor="ctr"/>
          <a:lstStyle/>
          <a:p>
            <a:pPr indent="0" marL="0">
              <a:buNone/>
            </a:pPr>
            <a:r>
              <a:rPr lang="en-US" sz="950" b="1" dirty="0">
                <a:solidFill>
                  <a:srgbClr val="1A2E42"/>
                </a:solidFill>
                <a:latin typeface="Calibri" pitchFamily="34" charset="0"/>
                <a:ea typeface="Calibri" pitchFamily="34" charset="-122"/>
                <a:cs typeface="Calibri" pitchFamily="34" charset="-120"/>
              </a:rPr>
              <a:t>Deploy</a:t>
            </a:r>
            <a:endParaRPr lang="en-US" sz="950" dirty="0"/>
          </a:p>
        </p:txBody>
      </p:sp>
      <p:sp>
        <p:nvSpPr>
          <p:cNvPr id="25" name="Text 23"/>
          <p:cNvSpPr/>
          <p:nvPr/>
        </p:nvSpPr>
        <p:spPr>
          <a:xfrm>
            <a:off x="859536" y="3017520"/>
            <a:ext cx="3383280" cy="201168"/>
          </a:xfrm>
          <a:prstGeom prst="rect">
            <a:avLst/>
          </a:prstGeom>
          <a:noFill/>
          <a:ln/>
        </p:spPr>
        <p:txBody>
          <a:bodyPr wrap="square" rtlCol="0" anchor="ctr"/>
          <a:lstStyle/>
          <a:p>
            <a:pPr indent="0" marL="0">
              <a:buNone/>
            </a:pPr>
            <a:r>
              <a:rPr lang="en-US" sz="850" dirty="0">
                <a:solidFill>
                  <a:srgbClr val="546E7A"/>
                </a:solidFill>
                <a:latin typeface="Calibri" pitchFamily="34" charset="0"/>
                <a:ea typeface="Calibri" pitchFamily="34" charset="-122"/>
                <a:cs typeface="Calibri" pitchFamily="34" charset="-120"/>
              </a:rPr>
              <a:t>SSH to EC2, git pull, restart services</a:t>
            </a:r>
            <a:endParaRPr lang="en-US" sz="850" dirty="0"/>
          </a:p>
        </p:txBody>
      </p:sp>
      <p:sp>
        <p:nvSpPr>
          <p:cNvPr id="26" name="Shape 24"/>
          <p:cNvSpPr/>
          <p:nvPr/>
        </p:nvSpPr>
        <p:spPr>
          <a:xfrm>
            <a:off x="365760" y="3310128"/>
            <a:ext cx="402336" cy="393192"/>
          </a:xfrm>
          <a:prstGeom prst="rect">
            <a:avLst/>
          </a:prstGeom>
          <a:solidFill>
            <a:srgbClr val="C62828"/>
          </a:solidFill>
          <a:ln w="12700">
            <a:solidFill>
              <a:srgbClr val="C62828"/>
            </a:solidFill>
            <a:prstDash val="solid"/>
          </a:ln>
        </p:spPr>
      </p:sp>
      <p:sp>
        <p:nvSpPr>
          <p:cNvPr id="27" name="Text 25"/>
          <p:cNvSpPr/>
          <p:nvPr/>
        </p:nvSpPr>
        <p:spPr>
          <a:xfrm>
            <a:off x="365760" y="3310128"/>
            <a:ext cx="402336" cy="3931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859536" y="3328416"/>
            <a:ext cx="3383280" cy="201168"/>
          </a:xfrm>
          <a:prstGeom prst="rect">
            <a:avLst/>
          </a:prstGeom>
          <a:noFill/>
          <a:ln/>
        </p:spPr>
        <p:txBody>
          <a:bodyPr wrap="square" rtlCol="0" anchor="ctr"/>
          <a:lstStyle/>
          <a:p>
            <a:pPr indent="0" marL="0">
              <a:buNone/>
            </a:pPr>
            <a:r>
              <a:rPr lang="en-US" sz="950" b="1" dirty="0">
                <a:solidFill>
                  <a:srgbClr val="1A2E42"/>
                </a:solidFill>
                <a:latin typeface="Calibri" pitchFamily="34" charset="0"/>
                <a:ea typeface="Calibri" pitchFamily="34" charset="-122"/>
                <a:cs typeface="Calibri" pitchFamily="34" charset="-120"/>
              </a:rPr>
              <a:t>Health Check</a:t>
            </a:r>
            <a:endParaRPr lang="en-US" sz="950" dirty="0"/>
          </a:p>
        </p:txBody>
      </p:sp>
      <p:sp>
        <p:nvSpPr>
          <p:cNvPr id="29" name="Text 27"/>
          <p:cNvSpPr/>
          <p:nvPr/>
        </p:nvSpPr>
        <p:spPr>
          <a:xfrm>
            <a:off x="859536" y="3520440"/>
            <a:ext cx="3383280" cy="201168"/>
          </a:xfrm>
          <a:prstGeom prst="rect">
            <a:avLst/>
          </a:prstGeom>
          <a:noFill/>
          <a:ln/>
        </p:spPr>
        <p:txBody>
          <a:bodyPr wrap="square" rtlCol="0" anchor="ctr"/>
          <a:lstStyle/>
          <a:p>
            <a:pPr indent="0" marL="0">
              <a:buNone/>
            </a:pPr>
            <a:r>
              <a:rPr lang="en-US" sz="850" dirty="0">
                <a:solidFill>
                  <a:srgbClr val="546E7A"/>
                </a:solidFill>
                <a:latin typeface="Calibri" pitchFamily="34" charset="0"/>
                <a:ea typeface="Calibri" pitchFamily="34" charset="-122"/>
                <a:cs typeface="Calibri" pitchFamily="34" charset="-120"/>
              </a:rPr>
              <a:t>curl /health — verify endpoint live</a:t>
            </a:r>
            <a:endParaRPr lang="en-US" sz="850" dirty="0"/>
          </a:p>
        </p:txBody>
      </p:sp>
      <p:sp>
        <p:nvSpPr>
          <p:cNvPr id="30" name="Shape 28"/>
          <p:cNvSpPr/>
          <p:nvPr/>
        </p:nvSpPr>
        <p:spPr>
          <a:xfrm>
            <a:off x="365760" y="3931920"/>
            <a:ext cx="3931920" cy="548640"/>
          </a:xfrm>
          <a:prstGeom prst="rect">
            <a:avLst/>
          </a:prstGeom>
          <a:solidFill>
            <a:srgbClr val="1A2E42"/>
          </a:solidFill>
          <a:ln w="12700">
            <a:solidFill>
              <a:srgbClr val="1A2E42"/>
            </a:solidFill>
            <a:prstDash val="solid"/>
          </a:ln>
        </p:spPr>
      </p:sp>
      <p:sp>
        <p:nvSpPr>
          <p:cNvPr id="31" name="Text 29"/>
          <p:cNvSpPr/>
          <p:nvPr/>
        </p:nvSpPr>
        <p:spPr>
          <a:xfrm>
            <a:off x="457200" y="3950208"/>
            <a:ext cx="3749040" cy="274320"/>
          </a:xfrm>
          <a:prstGeom prst="rect">
            <a:avLst/>
          </a:prstGeom>
          <a:noFill/>
          <a:ln/>
        </p:spPr>
        <p:txBody>
          <a:bodyPr wrap="square" rtlCol="0" anchor="ctr"/>
          <a:lstStyle/>
          <a:p>
            <a:pPr indent="0" marL="0">
              <a:buNone/>
            </a:pPr>
            <a:r>
              <a:rPr lang="en-US" sz="880" dirty="0">
                <a:solidFill>
                  <a:srgbClr val="00838F"/>
                </a:solidFill>
                <a:latin typeface="Courier New" pitchFamily="34" charset="0"/>
                <a:ea typeface="Courier New" pitchFamily="34" charset="-122"/>
                <a:cs typeface="Courier New" pitchFamily="34" charset="-120"/>
              </a:rPr>
              <a:t>github.com/Harish-816/smart-parking-ev</a:t>
            </a:r>
            <a:endParaRPr lang="en-US" sz="880" dirty="0"/>
          </a:p>
        </p:txBody>
      </p:sp>
      <p:sp>
        <p:nvSpPr>
          <p:cNvPr id="32" name="Text 30"/>
          <p:cNvSpPr/>
          <p:nvPr/>
        </p:nvSpPr>
        <p:spPr>
          <a:xfrm>
            <a:off x="457200" y="4206240"/>
            <a:ext cx="3749040" cy="237744"/>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11 successful runs  ·  avg deployment &lt; 40 seconds</a:t>
            </a:r>
            <a:endParaRPr lang="en-US" sz="850" dirty="0"/>
          </a:p>
        </p:txBody>
      </p:sp>
      <p:sp>
        <p:nvSpPr>
          <p:cNvPr id="33" name="Shape 31"/>
          <p:cNvSpPr/>
          <p:nvPr/>
        </p:nvSpPr>
        <p:spPr>
          <a:xfrm>
            <a:off x="4617720" y="886968"/>
            <a:ext cx="4270248" cy="3858768"/>
          </a:xfrm>
          <a:prstGeom prst="rect">
            <a:avLst/>
          </a:prstGeom>
          <a:solidFill>
            <a:srgbClr val="FFFFFF"/>
          </a:solidFill>
          <a:ln w="12700">
            <a:solidFill>
              <a:srgbClr val="FFFFFF"/>
            </a:solidFill>
            <a:prstDash val="solid"/>
          </a:ln>
          <a:effectLst>
            <a:outerShdw sx="100000" sy="100000" kx="0" ky="0" algn="bl" rotWithShape="0" blurRad="50800" dist="25400" dir="8100000">
              <a:srgbClr val="000000">
                <a:alpha val="10000"/>
              </a:srgbClr>
            </a:outerShdw>
          </a:effectLst>
        </p:spPr>
      </p:sp>
      <p:sp>
        <p:nvSpPr>
          <p:cNvPr id="34" name="Shape 32"/>
          <p:cNvSpPr/>
          <p:nvPr/>
        </p:nvSpPr>
        <p:spPr>
          <a:xfrm>
            <a:off x="4617720" y="886968"/>
            <a:ext cx="4270248" cy="301752"/>
          </a:xfrm>
          <a:prstGeom prst="rect">
            <a:avLst/>
          </a:prstGeom>
          <a:solidFill>
            <a:srgbClr val="2E7D32"/>
          </a:solidFill>
          <a:ln w="12700">
            <a:solidFill>
              <a:srgbClr val="2E7D32"/>
            </a:solidFill>
            <a:prstDash val="solid"/>
          </a:ln>
        </p:spPr>
      </p:sp>
      <p:sp>
        <p:nvSpPr>
          <p:cNvPr id="35" name="Text 33"/>
          <p:cNvSpPr/>
          <p:nvPr/>
        </p:nvSpPr>
        <p:spPr>
          <a:xfrm>
            <a:off x="4736592" y="886968"/>
            <a:ext cx="4023360" cy="30175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&amp; Discussion</a:t>
            </a:r>
            <a:endParaRPr lang="en-US" sz="1100" dirty="0"/>
          </a:p>
        </p:txBody>
      </p:sp>
      <p:sp>
        <p:nvSpPr>
          <p:cNvPr id="36" name="Shape 34"/>
          <p:cNvSpPr/>
          <p:nvPr/>
        </p:nvSpPr>
        <p:spPr>
          <a:xfrm>
            <a:off x="4736592" y="1280160"/>
            <a:ext cx="4041648" cy="594360"/>
          </a:xfrm>
          <a:prstGeom prst="rect">
            <a:avLst/>
          </a:prstGeom>
          <a:solidFill>
            <a:srgbClr val="F4F7FB"/>
          </a:solidFill>
          <a:ln w="6350">
            <a:solidFill>
              <a:srgbClr val="D5D8DC"/>
            </a:solidFill>
            <a:prstDash val="solid"/>
          </a:ln>
        </p:spPr>
      </p:sp>
      <p:sp>
        <p:nvSpPr>
          <p:cNvPr id="37" name="Text 35"/>
          <p:cNvSpPr/>
          <p:nvPr/>
        </p:nvSpPr>
        <p:spPr>
          <a:xfrm>
            <a:off x="4828032" y="1307592"/>
            <a:ext cx="3840480" cy="23774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  Fog reduces cloud load</a:t>
            </a:r>
            <a:endParaRPr lang="en-US" sz="1000" dirty="0"/>
          </a:p>
        </p:txBody>
      </p:sp>
      <p:sp>
        <p:nvSpPr>
          <p:cNvPr id="38" name="Text 36"/>
          <p:cNvSpPr/>
          <p:nvPr/>
        </p:nvSpPr>
        <p:spPr>
          <a:xfrm>
            <a:off x="4828032" y="1536192"/>
            <a:ext cx="3840480" cy="274320"/>
          </a:xfrm>
          <a:prstGeom prst="rect">
            <a:avLst/>
          </a:prstGeom>
          <a:noFill/>
          <a:ln/>
        </p:spPr>
        <p:txBody>
          <a:bodyPr wrap="square" rtlCol="0" anchor="ctr"/>
          <a:lstStyle/>
          <a:p>
            <a:pPr indent="0" marL="0">
              <a:buNone/>
            </a:pPr>
            <a:r>
              <a:rPr lang="en-US" sz="880" dirty="0">
                <a:solidFill>
                  <a:srgbClr val="1A2E42"/>
                </a:solidFill>
                <a:latin typeface="Calibri" pitchFamily="34" charset="0"/>
                <a:ea typeface="Calibri" pitchFamily="34" charset="-122"/>
                <a:cs typeface="Calibri" pitchFamily="34" charset="-120"/>
              </a:rPr>
              <a:t>Local filtering eliminates redundant upstream data, reducing cloud processing overhead.</a:t>
            </a:r>
            <a:endParaRPr lang="en-US" sz="880" dirty="0"/>
          </a:p>
        </p:txBody>
      </p:sp>
      <p:sp>
        <p:nvSpPr>
          <p:cNvPr id="39" name="Shape 37"/>
          <p:cNvSpPr/>
          <p:nvPr/>
        </p:nvSpPr>
        <p:spPr>
          <a:xfrm>
            <a:off x="4736592" y="1938528"/>
            <a:ext cx="4041648" cy="594360"/>
          </a:xfrm>
          <a:prstGeom prst="rect">
            <a:avLst/>
          </a:prstGeom>
          <a:solidFill>
            <a:srgbClr val="F4F7FB"/>
          </a:solidFill>
          <a:ln w="6350">
            <a:solidFill>
              <a:srgbClr val="D5D8DC"/>
            </a:solidFill>
            <a:prstDash val="solid"/>
          </a:ln>
        </p:spPr>
      </p:sp>
      <p:sp>
        <p:nvSpPr>
          <p:cNvPr id="40" name="Text 38"/>
          <p:cNvSpPr/>
          <p:nvPr/>
        </p:nvSpPr>
        <p:spPr>
          <a:xfrm>
            <a:off x="4828032" y="1965960"/>
            <a:ext cx="3840480" cy="23774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  Scalable AWS pipeline</a:t>
            </a:r>
            <a:endParaRPr lang="en-US" sz="1000" dirty="0"/>
          </a:p>
        </p:txBody>
      </p:sp>
      <p:sp>
        <p:nvSpPr>
          <p:cNvPr id="41" name="Text 39"/>
          <p:cNvSpPr/>
          <p:nvPr/>
        </p:nvSpPr>
        <p:spPr>
          <a:xfrm>
            <a:off x="4828032" y="2194560"/>
            <a:ext cx="3840480" cy="274320"/>
          </a:xfrm>
          <a:prstGeom prst="rect">
            <a:avLst/>
          </a:prstGeom>
          <a:noFill/>
          <a:ln/>
        </p:spPr>
        <p:txBody>
          <a:bodyPr wrap="square" rtlCol="0" anchor="ctr"/>
          <a:lstStyle/>
          <a:p>
            <a:pPr indent="0" marL="0">
              <a:buNone/>
            </a:pPr>
            <a:r>
              <a:rPr lang="en-US" sz="880" dirty="0">
                <a:solidFill>
                  <a:srgbClr val="1A2E42"/>
                </a:solidFill>
                <a:latin typeface="Calibri" pitchFamily="34" charset="0"/>
                <a:ea typeface="Calibri" pitchFamily="34" charset="-122"/>
                <a:cs typeface="Calibri" pitchFamily="34" charset="-120"/>
              </a:rPr>
              <a:t>SQS-Lambda absorbs traffic spikes. DynamoDB on-demand capacity handles varying workloads.</a:t>
            </a:r>
            <a:endParaRPr lang="en-US" sz="880" dirty="0"/>
          </a:p>
        </p:txBody>
      </p:sp>
      <p:sp>
        <p:nvSpPr>
          <p:cNvPr id="42" name="Shape 40"/>
          <p:cNvSpPr/>
          <p:nvPr/>
        </p:nvSpPr>
        <p:spPr>
          <a:xfrm>
            <a:off x="4736592" y="2596896"/>
            <a:ext cx="4041648" cy="594360"/>
          </a:xfrm>
          <a:prstGeom prst="rect">
            <a:avLst/>
          </a:prstGeom>
          <a:solidFill>
            <a:srgbClr val="F4F7FB"/>
          </a:solidFill>
          <a:ln w="6350">
            <a:solidFill>
              <a:srgbClr val="D5D8DC"/>
            </a:solidFill>
            <a:prstDash val="solid"/>
          </a:ln>
        </p:spPr>
      </p:sp>
      <p:sp>
        <p:nvSpPr>
          <p:cNvPr id="43" name="Text 41"/>
          <p:cNvSpPr/>
          <p:nvPr/>
        </p:nvSpPr>
        <p:spPr>
          <a:xfrm>
            <a:off x="4828032" y="2624328"/>
            <a:ext cx="3840480" cy="23774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  React.js dashboard</a:t>
            </a:r>
            <a:endParaRPr lang="en-US" sz="1000" dirty="0"/>
          </a:p>
        </p:txBody>
      </p:sp>
      <p:sp>
        <p:nvSpPr>
          <p:cNvPr id="44" name="Text 42"/>
          <p:cNvSpPr/>
          <p:nvPr/>
        </p:nvSpPr>
        <p:spPr>
          <a:xfrm>
            <a:off x="4828032" y="2852928"/>
            <a:ext cx="3840480" cy="274320"/>
          </a:xfrm>
          <a:prstGeom prst="rect">
            <a:avLst/>
          </a:prstGeom>
          <a:noFill/>
          <a:ln/>
        </p:spPr>
        <p:txBody>
          <a:bodyPr wrap="square" rtlCol="0" anchor="ctr"/>
          <a:lstStyle/>
          <a:p>
            <a:pPr indent="0" marL="0">
              <a:buNone/>
            </a:pPr>
            <a:r>
              <a:rPr lang="en-US" sz="880" dirty="0">
                <a:solidFill>
                  <a:srgbClr val="1A2E42"/>
                </a:solidFill>
                <a:latin typeface="Calibri" pitchFamily="34" charset="0"/>
                <a:ea typeface="Calibri" pitchFamily="34" charset="-122"/>
                <a:cs typeface="Calibri" pitchFamily="34" charset="-120"/>
              </a:rPr>
              <a:t>Real-time insights on parking, chargers, power, environment and active alerts — auto-refreshing.</a:t>
            </a:r>
            <a:endParaRPr lang="en-US" sz="880" dirty="0"/>
          </a:p>
        </p:txBody>
      </p:sp>
      <p:sp>
        <p:nvSpPr>
          <p:cNvPr id="45" name="Shape 43"/>
          <p:cNvSpPr/>
          <p:nvPr/>
        </p:nvSpPr>
        <p:spPr>
          <a:xfrm>
            <a:off x="4736592" y="3255264"/>
            <a:ext cx="4041648" cy="594360"/>
          </a:xfrm>
          <a:prstGeom prst="rect">
            <a:avLst/>
          </a:prstGeom>
          <a:solidFill>
            <a:srgbClr val="F4F7FB"/>
          </a:solidFill>
          <a:ln w="6350">
            <a:solidFill>
              <a:srgbClr val="D5D8DC"/>
            </a:solidFill>
            <a:prstDash val="solid"/>
          </a:ln>
        </p:spPr>
      </p:sp>
      <p:sp>
        <p:nvSpPr>
          <p:cNvPr id="46" name="Text 44"/>
          <p:cNvSpPr/>
          <p:nvPr/>
        </p:nvSpPr>
        <p:spPr>
          <a:xfrm>
            <a:off x="4828032" y="3282696"/>
            <a:ext cx="3840480" cy="23774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  CI/CD validated</a:t>
            </a:r>
            <a:endParaRPr lang="en-US" sz="1000" dirty="0"/>
          </a:p>
        </p:txBody>
      </p:sp>
      <p:sp>
        <p:nvSpPr>
          <p:cNvPr id="47" name="Text 45"/>
          <p:cNvSpPr/>
          <p:nvPr/>
        </p:nvSpPr>
        <p:spPr>
          <a:xfrm>
            <a:off x="4828032" y="3511296"/>
            <a:ext cx="3840480" cy="274320"/>
          </a:xfrm>
          <a:prstGeom prst="rect">
            <a:avLst/>
          </a:prstGeom>
          <a:noFill/>
          <a:ln/>
        </p:spPr>
        <p:txBody>
          <a:bodyPr wrap="square" rtlCol="0" anchor="ctr"/>
          <a:lstStyle/>
          <a:p>
            <a:pPr indent="0" marL="0">
              <a:buNone/>
            </a:pPr>
            <a:r>
              <a:rPr lang="en-US" sz="880" dirty="0">
                <a:solidFill>
                  <a:srgbClr val="1A2E42"/>
                </a:solidFill>
                <a:latin typeface="Calibri" pitchFamily="34" charset="0"/>
                <a:ea typeface="Calibri" pitchFamily="34" charset="-122"/>
                <a:cs typeface="Calibri" pitchFamily="34" charset="-120"/>
              </a:rPr>
              <a:t>11 automated runs confirmed. Average EC2 deployment time consistently under 40 seconds.</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A2E42"/>
          </a:solidFill>
          <a:ln w="12700">
            <a:solidFill>
              <a:srgbClr val="1A2E42"/>
            </a:solidFill>
            <a:prstDash val="solid"/>
          </a:ln>
        </p:spPr>
      </p:sp>
      <p:sp>
        <p:nvSpPr>
          <p:cNvPr id="3" name="Shape 1"/>
          <p:cNvSpPr/>
          <p:nvPr/>
        </p:nvSpPr>
        <p:spPr>
          <a:xfrm>
            <a:off x="137160" y="0"/>
            <a:ext cx="9006840" cy="64008"/>
          </a:xfrm>
          <a:prstGeom prst="rect">
            <a:avLst/>
          </a:prstGeom>
          <a:solidFill>
            <a:srgbClr val="00838F"/>
          </a:solidFill>
          <a:ln w="12700">
            <a:solidFill>
              <a:srgbClr val="00838F"/>
            </a:solidFill>
            <a:prstDash val="solid"/>
          </a:ln>
        </p:spPr>
      </p:sp>
      <p:sp>
        <p:nvSpPr>
          <p:cNvPr id="4" name="Shape 2"/>
          <p:cNvSpPr/>
          <p:nvPr/>
        </p:nvSpPr>
        <p:spPr>
          <a:xfrm>
            <a:off x="137160" y="5079492"/>
            <a:ext cx="9006840" cy="64008"/>
          </a:xfrm>
          <a:prstGeom prst="rect">
            <a:avLst/>
          </a:prstGeom>
          <a:solidFill>
            <a:srgbClr val="00838F"/>
          </a:solidFill>
          <a:ln w="12700">
            <a:solidFill>
              <a:srgbClr val="00838F"/>
            </a:solidFill>
            <a:prstDash val="solid"/>
          </a:ln>
        </p:spPr>
      </p:sp>
      <p:sp>
        <p:nvSpPr>
          <p:cNvPr id="5" name="Text 3"/>
          <p:cNvSpPr/>
          <p:nvPr/>
        </p:nvSpPr>
        <p:spPr>
          <a:xfrm>
            <a:off x="320040" y="182880"/>
            <a:ext cx="6400800" cy="502920"/>
          </a:xfrm>
          <a:prstGeom prst="rect">
            <a:avLst/>
          </a:prstGeom>
          <a:noFill/>
          <a:ln/>
        </p:spPr>
        <p:txBody>
          <a:bodyPr wrap="square" rtlCol="0" anchor="ctr"/>
          <a:lstStyle/>
          <a:p>
            <a:pPr indent="0" marL="0">
              <a:buNone/>
            </a:pPr>
            <a:r>
              <a:rPr lang="en-US" sz="2800" b="1" dirty="0">
                <a:solidFill>
                  <a:srgbClr val="1A2E42"/>
                </a:solidFill>
                <a:latin typeface="Calibri" pitchFamily="34" charset="0"/>
                <a:ea typeface="Calibri" pitchFamily="34" charset="-122"/>
                <a:cs typeface="Calibri" pitchFamily="34" charset="-120"/>
              </a:rPr>
              <a:t>Conclusion &amp; Thank You</a:t>
            </a:r>
            <a:endParaRPr lang="en-US" sz="2800" dirty="0"/>
          </a:p>
        </p:txBody>
      </p:sp>
      <p:sp>
        <p:nvSpPr>
          <p:cNvPr id="6" name="Shape 4"/>
          <p:cNvSpPr/>
          <p:nvPr/>
        </p:nvSpPr>
        <p:spPr>
          <a:xfrm>
            <a:off x="320040" y="804672"/>
            <a:ext cx="8503920" cy="1536192"/>
          </a:xfrm>
          <a:prstGeom prst="rect">
            <a:avLst/>
          </a:prstGeom>
          <a:solidFill>
            <a:srgbClr val="1A2E42"/>
          </a:solidFill>
          <a:ln w="12700">
            <a:solidFill>
              <a:srgbClr val="1A2E42"/>
            </a:solidFill>
            <a:prstDash val="solid"/>
          </a:ln>
        </p:spPr>
      </p:sp>
      <p:sp>
        <p:nvSpPr>
          <p:cNvPr id="7" name="Text 5"/>
          <p:cNvSpPr/>
          <p:nvPr/>
        </p:nvSpPr>
        <p:spPr>
          <a:xfrm>
            <a:off x="457200" y="850392"/>
            <a:ext cx="8229600" cy="1371600"/>
          </a:xfrm>
          <a:prstGeom prst="rect">
            <a:avLst/>
          </a:prstGeom>
          <a:noFill/>
          <a:ln/>
        </p:spPr>
        <p:txBody>
          <a:bodyPr wrap="square" rtlCol="0" anchor="ctr"/>
          <a:lstStyle/>
          <a:p>
            <a:pPr indent="0" marL="0">
              <a:spcAft>
                <a:spcPts val="500"/>
              </a:spcAft>
              <a:buNone/>
            </a:pPr>
            <a:r>
              <a:rPr lang="en-US" sz="1100" dirty="0">
                <a:solidFill>
                  <a:srgbClr val="FFFFFF"/>
                </a:solidFill>
                <a:latin typeface="Times New Roman" pitchFamily="34" charset="0"/>
                <a:ea typeface="Times New Roman" pitchFamily="34" charset="-122"/>
                <a:cs typeface="Times New Roman" pitchFamily="34" charset="-120"/>
              </a:rPr>
              <a:t>This project demonstrates a 3-layer fog and edge computing architecture for smart city IoT monitoring. By filtering, deduplicating, and enriching data at the fog layer before cloud transmission, the system achieves reduced latency, lower bandwidth usage, and elastic scalability. The serverless AWS backend and automated CI/CD pipeline make it production-ready.</a:t>
            </a:r>
            <a:endParaRPr lang="en-US" sz="1100" dirty="0"/>
          </a:p>
        </p:txBody>
      </p:sp>
      <p:sp>
        <p:nvSpPr>
          <p:cNvPr id="8" name="Shape 6"/>
          <p:cNvSpPr/>
          <p:nvPr/>
        </p:nvSpPr>
        <p:spPr>
          <a:xfrm>
            <a:off x="731520" y="2487168"/>
            <a:ext cx="2377440" cy="1664208"/>
          </a:xfrm>
          <a:prstGeom prst="rect">
            <a:avLst/>
          </a:prstGeom>
          <a:solidFill>
            <a:srgbClr val="1565C0"/>
          </a:solidFill>
          <a:ln w="12700">
            <a:solidFill>
              <a:srgbClr val="1565C0"/>
            </a:solidFill>
            <a:prstDash val="solid"/>
          </a:ln>
          <a:effectLst>
            <a:outerShdw sx="100000" sy="100000" kx="0" ky="0" algn="bl" rotWithShape="0" blurRad="50800" dist="25400" dir="8100000">
              <a:srgbClr val="000000">
                <a:alpha val="10000"/>
              </a:srgbClr>
            </a:outerShdw>
          </a:effectLst>
        </p:spPr>
      </p:sp>
      <p:sp>
        <p:nvSpPr>
          <p:cNvPr id="9" name="Text 7"/>
          <p:cNvSpPr/>
          <p:nvPr/>
        </p:nvSpPr>
        <p:spPr>
          <a:xfrm>
            <a:off x="731520" y="2532888"/>
            <a:ext cx="2377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IoT Sensors</a:t>
            </a:r>
            <a:endParaRPr lang="en-US" sz="1200" dirty="0"/>
          </a:p>
        </p:txBody>
      </p:sp>
      <p:sp>
        <p:nvSpPr>
          <p:cNvPr id="10" name="Text 8"/>
          <p:cNvSpPr/>
          <p:nvPr/>
        </p:nvSpPr>
        <p:spPr>
          <a:xfrm>
            <a:off x="731520" y="2944368"/>
            <a:ext cx="2377440" cy="107899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Parking · EV · Temp</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Air Quality · Vehicle</a:t>
            </a:r>
            <a:endParaRPr lang="en-US" sz="1150" dirty="0"/>
          </a:p>
        </p:txBody>
      </p:sp>
      <p:sp>
        <p:nvSpPr>
          <p:cNvPr id="11" name="Shape 9"/>
          <p:cNvSpPr/>
          <p:nvPr/>
        </p:nvSpPr>
        <p:spPr>
          <a:xfrm>
            <a:off x="3474720" y="2487168"/>
            <a:ext cx="2377440" cy="1664208"/>
          </a:xfrm>
          <a:prstGeom prst="rect">
            <a:avLst/>
          </a:prstGeom>
          <a:solidFill>
            <a:srgbClr val="00838F"/>
          </a:solidFill>
          <a:ln w="12700">
            <a:solidFill>
              <a:srgbClr val="00838F"/>
            </a:solidFill>
            <a:prstDash val="solid"/>
          </a:ln>
          <a:effectLst>
            <a:outerShdw sx="100000" sy="100000" kx="0" ky="0" algn="bl" rotWithShape="0" blurRad="50800" dist="25400" dir="8100000">
              <a:srgbClr val="000000">
                <a:alpha val="10000"/>
              </a:srgbClr>
            </a:outerShdw>
          </a:effectLst>
        </p:spPr>
      </p:sp>
      <p:sp>
        <p:nvSpPr>
          <p:cNvPr id="12" name="Text 10"/>
          <p:cNvSpPr/>
          <p:nvPr/>
        </p:nvSpPr>
        <p:spPr>
          <a:xfrm>
            <a:off x="3474720" y="2532888"/>
            <a:ext cx="2377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Serverless AWS</a:t>
            </a:r>
            <a:endParaRPr lang="en-US" sz="1200" dirty="0"/>
          </a:p>
        </p:txBody>
      </p:sp>
      <p:sp>
        <p:nvSpPr>
          <p:cNvPr id="13" name="Text 11"/>
          <p:cNvSpPr/>
          <p:nvPr/>
        </p:nvSpPr>
        <p:spPr>
          <a:xfrm>
            <a:off x="3474720" y="2944368"/>
            <a:ext cx="2377440" cy="107899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API GW→SQS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→Lambda→DynamoDB</a:t>
            </a:r>
            <a:endParaRPr lang="en-US" sz="1150" dirty="0"/>
          </a:p>
        </p:txBody>
      </p:sp>
      <p:sp>
        <p:nvSpPr>
          <p:cNvPr id="14" name="Shape 12"/>
          <p:cNvSpPr/>
          <p:nvPr/>
        </p:nvSpPr>
        <p:spPr>
          <a:xfrm>
            <a:off x="6217920" y="2487168"/>
            <a:ext cx="2377440" cy="1664208"/>
          </a:xfrm>
          <a:prstGeom prst="rect">
            <a:avLst/>
          </a:prstGeom>
          <a:solidFill>
            <a:srgbClr val="1A2E42"/>
          </a:solidFill>
          <a:ln w="12700">
            <a:solidFill>
              <a:srgbClr val="1A2E42"/>
            </a:solidFill>
            <a:prstDash val="solid"/>
          </a:ln>
          <a:effectLst>
            <a:outerShdw sx="100000" sy="100000" kx="0" ky="0" algn="bl" rotWithShape="0" blurRad="50800" dist="25400" dir="8100000">
              <a:srgbClr val="000000">
                <a:alpha val="10000"/>
              </a:srgbClr>
            </a:outerShdw>
          </a:effectLst>
        </p:spPr>
      </p:sp>
      <p:sp>
        <p:nvSpPr>
          <p:cNvPr id="15" name="Text 13"/>
          <p:cNvSpPr/>
          <p:nvPr/>
        </p:nvSpPr>
        <p:spPr>
          <a:xfrm>
            <a:off x="6217920" y="2532888"/>
            <a:ext cx="2377440"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CI/CD Automated</a:t>
            </a:r>
            <a:endParaRPr lang="en-US" sz="1200" dirty="0"/>
          </a:p>
        </p:txBody>
      </p:sp>
      <p:sp>
        <p:nvSpPr>
          <p:cNvPr id="16" name="Text 14"/>
          <p:cNvSpPr/>
          <p:nvPr/>
        </p:nvSpPr>
        <p:spPr>
          <a:xfrm>
            <a:off x="6217920" y="2944368"/>
            <a:ext cx="2377440" cy="107899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GitHub Actions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11 successful runs</a:t>
            </a:r>
            <a:endParaRPr lang="en-US" sz="1150" dirty="0"/>
          </a:p>
        </p:txBody>
      </p:sp>
      <p:sp>
        <p:nvSpPr>
          <p:cNvPr id="17" name="Text 15"/>
          <p:cNvSpPr/>
          <p:nvPr/>
        </p:nvSpPr>
        <p:spPr>
          <a:xfrm>
            <a:off x="320040" y="4315968"/>
            <a:ext cx="6400800" cy="274320"/>
          </a:xfrm>
          <a:prstGeom prst="rect">
            <a:avLst/>
          </a:prstGeom>
          <a:noFill/>
          <a:ln/>
        </p:spPr>
        <p:txBody>
          <a:bodyPr wrap="square" rtlCol="0" anchor="ctr"/>
          <a:lstStyle/>
          <a:p>
            <a:pPr indent="0" marL="0">
              <a:buNone/>
            </a:pPr>
            <a:r>
              <a:rPr lang="en-US" sz="1000" dirty="0">
                <a:solidFill>
                  <a:srgbClr val="00838F"/>
                </a:solidFill>
                <a:latin typeface="Courier New" pitchFamily="34" charset="0"/>
                <a:ea typeface="Courier New" pitchFamily="34" charset="-122"/>
                <a:cs typeface="Courier New" pitchFamily="34" charset="-120"/>
              </a:rPr>
              <a:t>github.com/Harish-816/smart-parking-ev</a:t>
            </a:r>
            <a:endParaRPr lang="en-US" sz="1000" dirty="0"/>
          </a:p>
        </p:txBody>
      </p:sp>
      <p:sp>
        <p:nvSpPr>
          <p:cNvPr id="18" name="Text 16"/>
          <p:cNvSpPr/>
          <p:nvPr/>
        </p:nvSpPr>
        <p:spPr>
          <a:xfrm>
            <a:off x="320040" y="4626864"/>
            <a:ext cx="8229600" cy="256032"/>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Harish Ramasamy  ·  x24194654@student.ncirl.ie  ·  Thank You!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2026-04-19T15:10:23Z</dcterms:created>
  <dcterms:modified xsi:type="dcterms:W3CDTF">2026-04-19T15:10:23Z</dcterms:modified>
</cp:coreProperties>
</file>